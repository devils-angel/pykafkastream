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Raleway"/>
      <p:regular r:id="rId24"/>
      <p:bold r:id="rId25"/>
      <p:italic r:id="rId26"/>
      <p:boldItalic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Raleway Light"/>
      <p:regular r:id="rId36"/>
      <p:bold r:id="rId37"/>
      <p:italic r:id="rId38"/>
      <p:boldItalic r:id="rId39"/>
    </p:embeddedFont>
    <p:embeddedFont>
      <p:font typeface="Roboto Condensed Ligh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g4AsVOfTuRkB+J3DfB977BP5/IF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CondensedLight-regular.fntdata"/><Relationship Id="rId20" Type="http://schemas.openxmlformats.org/officeDocument/2006/relationships/slide" Target="slides/slide15.xml"/><Relationship Id="rId42" Type="http://schemas.openxmlformats.org/officeDocument/2006/relationships/font" Target="fonts/RobotoCondensedLight-italic.fntdata"/><Relationship Id="rId41" Type="http://schemas.openxmlformats.org/officeDocument/2006/relationships/font" Target="fonts/RobotoCondensedLight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RobotoCondensedLight-boldItalic.fntdata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bold.fntdata"/><Relationship Id="rId10" Type="http://schemas.openxmlformats.org/officeDocument/2006/relationships/slide" Target="slides/slide5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8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10.xml"/><Relationship Id="rId37" Type="http://schemas.openxmlformats.org/officeDocument/2006/relationships/font" Target="fonts/RalewayLight-bold.fntdata"/><Relationship Id="rId14" Type="http://schemas.openxmlformats.org/officeDocument/2006/relationships/slide" Target="slides/slide9.xml"/><Relationship Id="rId36" Type="http://schemas.openxmlformats.org/officeDocument/2006/relationships/font" Target="fonts/RalewayLight-regular.fntdata"/><Relationship Id="rId17" Type="http://schemas.openxmlformats.org/officeDocument/2006/relationships/slide" Target="slides/slide12.xml"/><Relationship Id="rId39" Type="http://schemas.openxmlformats.org/officeDocument/2006/relationships/font" Target="fonts/RalewayLight-boldItalic.fntdata"/><Relationship Id="rId16" Type="http://schemas.openxmlformats.org/officeDocument/2006/relationships/slide" Target="slides/slide11.xml"/><Relationship Id="rId38" Type="http://schemas.openxmlformats.org/officeDocument/2006/relationships/font" Target="fonts/RalewayLight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5" name="Google Shape;31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4" name="Google Shape;37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5" name="Google Shape;455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3" name="Google Shape;473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2" name="Google Shape;482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1" name="Google Shape;491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0" name="Google Shape;500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moban/" TargetMode="Externa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bg>
      <p:bgPr>
        <a:solidFill>
          <a:schemeClr val="lt1"/>
        </a:solid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icrosoft Yahei"/>
              <a:buNone/>
              <a:defRPr b="0" i="0" sz="6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15" name="Google Shape;1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16" name="Google Shape;1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Yahei"/>
              <a:buNone/>
              <a:defRPr b="0" i="0" sz="4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icrosoft Yahei"/>
              <a:buNone/>
              <a:defRPr b="0" i="0" sz="6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Yahei"/>
              <a:buNone/>
              <a:defRPr b="0" i="0" sz="4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32" name="Google Shape;32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33" name="Google Shape;3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Yahei"/>
              <a:buNone/>
              <a:defRPr b="0" i="0" sz="4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0" name="Google Shape;40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1" name="Google Shape;41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26"/>
          <p:cNvSpPr txBox="1"/>
          <p:nvPr/>
        </p:nvSpPr>
        <p:spPr>
          <a:xfrm>
            <a:off x="1666405" y="6717169"/>
            <a:ext cx="1800200" cy="118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"/>
              <a:buFont typeface="Microsoft Yahei"/>
              <a:buNone/>
            </a:pPr>
            <a:r>
              <a:rPr b="0" i="0" lang="en-US" sz="100" u="sng" cap="none" strike="noStrike">
                <a:solidFill>
                  <a:schemeClr val="hlink"/>
                </a:solidFill>
                <a:latin typeface="Microsoft Yahei"/>
                <a:ea typeface="Microsoft Yahei"/>
                <a:cs typeface="Microsoft Yahei"/>
                <a:sym typeface="Microsoft Yahei"/>
                <a:hlinkClick r:id="rId2"/>
              </a:rPr>
              <a:t>PPT模板</a:t>
            </a:r>
            <a:r>
              <a:rPr b="0" i="0" lang="en-US" sz="100" u="none" cap="none" strike="noStrike">
                <a:solidFill>
                  <a:srgbClr val="000000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http://www.1ppt.com/moban/ </a:t>
            </a:r>
            <a:endParaRPr b="0" i="0" sz="100" u="none" cap="none" strike="noStrike">
              <a:solidFill>
                <a:srgbClr val="000000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Yahei"/>
              <a:buNone/>
              <a:defRPr b="0" i="0" sz="4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9" name="Google Shape;4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Yahei"/>
              <a:buNone/>
              <a:defRPr b="0" i="0" sz="3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4" name="Google Shape;54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Yahei"/>
              <a:buNone/>
              <a:defRPr b="0" i="0" sz="3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Yahei"/>
              <a:buNone/>
              <a:defRPr b="0" i="0" sz="4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68" name="Google Shape;6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69" name="Google Shape;6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0" name="Google Shape;7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icrosoft Yahei"/>
              <a:buNone/>
              <a:defRPr b="0" i="0" sz="4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4" name="Google Shape;74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5" name="Google Shape;75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6" name="Google Shape;76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 slide layout">
  <p:cSld name="Contents slide layou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2"/>
          <p:cNvSpPr txBox="1"/>
          <p:nvPr>
            <p:ph idx="1" type="body"/>
          </p:nvPr>
        </p:nvSpPr>
        <p:spPr>
          <a:xfrm>
            <a:off x="323529" y="281518"/>
            <a:ext cx="11573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b="0" i="0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Image slide layout">
  <p:cSld name="2_Image slide layou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33"/>
          <p:cNvGrpSpPr/>
          <p:nvPr/>
        </p:nvGrpSpPr>
        <p:grpSpPr>
          <a:xfrm>
            <a:off x="695160" y="3086075"/>
            <a:ext cx="4041537" cy="3178737"/>
            <a:chOff x="2444748" y="555045"/>
            <a:chExt cx="7282048" cy="5727454"/>
          </a:xfrm>
        </p:grpSpPr>
        <p:sp>
          <p:nvSpPr>
            <p:cNvPr id="81" name="Google Shape;81;p33"/>
            <p:cNvSpPr/>
            <p:nvPr/>
          </p:nvSpPr>
          <p:spPr>
            <a:xfrm>
              <a:off x="4964693" y="5443837"/>
              <a:ext cx="2168250" cy="818207"/>
            </a:xfrm>
            <a:custGeom>
              <a:rect b="b" l="l" r="r" t="t"/>
              <a:pathLst>
                <a:path extrusionOk="0" h="818207" w="2168250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52999">
                  <a:srgbClr val="D8D8D8"/>
                </a:gs>
                <a:gs pos="83000">
                  <a:srgbClr val="BFBFBF"/>
                </a:gs>
                <a:gs pos="100000">
                  <a:srgbClr val="BFBFBF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3"/>
            <p:cNvSpPr/>
            <p:nvPr/>
          </p:nvSpPr>
          <p:spPr>
            <a:xfrm>
              <a:off x="2444748" y="555045"/>
              <a:ext cx="7282048" cy="4950157"/>
            </a:xfrm>
            <a:custGeom>
              <a:rect b="b" l="l" r="r" t="t"/>
              <a:pathLst>
                <a:path extrusionOk="0" h="4950157" w="7282048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3"/>
            <p:cNvSpPr/>
            <p:nvPr/>
          </p:nvSpPr>
          <p:spPr>
            <a:xfrm>
              <a:off x="8706599" y="5435655"/>
              <a:ext cx="490924" cy="81820"/>
            </a:xfrm>
            <a:custGeom>
              <a:rect b="b" l="l" r="r" t="t"/>
              <a:pathLst>
                <a:path extrusionOk="0" h="81820" w="490924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3"/>
            <p:cNvSpPr/>
            <p:nvPr/>
          </p:nvSpPr>
          <p:spPr>
            <a:xfrm>
              <a:off x="2481568" y="595956"/>
              <a:ext cx="7200227" cy="4336501"/>
            </a:xfrm>
            <a:custGeom>
              <a:rect b="b" l="l" r="r" t="t"/>
              <a:pathLst>
                <a:path extrusionOk="0" h="4336501" w="7200227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3"/>
            <p:cNvSpPr/>
            <p:nvPr/>
          </p:nvSpPr>
          <p:spPr>
            <a:xfrm>
              <a:off x="4968919" y="6159768"/>
              <a:ext cx="2168250" cy="122731"/>
            </a:xfrm>
            <a:custGeom>
              <a:rect b="b" l="l" r="r" t="t"/>
              <a:pathLst>
                <a:path extrusionOk="0" h="122731" w="2168250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3"/>
            <p:cNvSpPr/>
            <p:nvPr/>
          </p:nvSpPr>
          <p:spPr>
            <a:xfrm>
              <a:off x="2481568" y="4903820"/>
              <a:ext cx="7200227" cy="572745"/>
            </a:xfrm>
            <a:custGeom>
              <a:rect b="b" l="l" r="r" t="t"/>
              <a:pathLst>
                <a:path extrusionOk="0" h="572745" w="7200227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3"/>
            <p:cNvSpPr/>
            <p:nvPr/>
          </p:nvSpPr>
          <p:spPr>
            <a:xfrm>
              <a:off x="2747714" y="910966"/>
              <a:ext cx="6668903" cy="3763755"/>
            </a:xfrm>
            <a:custGeom>
              <a:rect b="b" l="l" r="r" t="t"/>
              <a:pathLst>
                <a:path extrusionOk="0" h="3763755" w="6586571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3"/>
            <p:cNvSpPr/>
            <p:nvPr/>
          </p:nvSpPr>
          <p:spPr>
            <a:xfrm>
              <a:off x="5654591" y="939518"/>
              <a:ext cx="3767723" cy="3732623"/>
            </a:xfrm>
            <a:custGeom>
              <a:rect b="b" l="l" r="r" t="t"/>
              <a:pathLst>
                <a:path extrusionOk="0" h="4035268" w="3976489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33"/>
          <p:cNvSpPr/>
          <p:nvPr>
            <p:ph idx="2" type="pic"/>
          </p:nvPr>
        </p:nvSpPr>
        <p:spPr>
          <a:xfrm>
            <a:off x="0" y="1"/>
            <a:ext cx="12192000" cy="38841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0" name="Google Shape;90;p33"/>
          <p:cNvSpPr/>
          <p:nvPr>
            <p:ph idx="3" type="pic"/>
          </p:nvPr>
        </p:nvSpPr>
        <p:spPr>
          <a:xfrm>
            <a:off x="872569" y="3263177"/>
            <a:ext cx="3705000" cy="2109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4"/>
          <p:cNvSpPr txBox="1"/>
          <p:nvPr/>
        </p:nvSpPr>
        <p:spPr>
          <a:xfrm>
            <a:off x="8153399" y="6184996"/>
            <a:ext cx="27432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59595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Designed By GraphicBulb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4"/>
          <p:cNvSpPr txBox="1"/>
          <p:nvPr/>
        </p:nvSpPr>
        <p:spPr>
          <a:xfrm>
            <a:off x="838198" y="6184996"/>
            <a:ext cx="3200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959595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ProjectX Presentaion Template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4"/>
          <p:cNvSpPr txBox="1"/>
          <p:nvPr/>
        </p:nvSpPr>
        <p:spPr>
          <a:xfrm>
            <a:off x="10439400" y="6184996"/>
            <a:ext cx="914400" cy="3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959595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‹#›</a:t>
            </a:fld>
            <a:endParaRPr b="0" i="0" sz="1600" u="none" cap="none" strike="noStrike">
              <a:solidFill>
                <a:srgbClr val="959595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5"/>
          <p:cNvSpPr/>
          <p:nvPr/>
        </p:nvSpPr>
        <p:spPr>
          <a:xfrm>
            <a:off x="11487955" y="283333"/>
            <a:ext cx="438000" cy="43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97" name="Google Shape;97;p35"/>
          <p:cNvSpPr txBox="1"/>
          <p:nvPr/>
        </p:nvSpPr>
        <p:spPr>
          <a:xfrm>
            <a:off x="4854313" y="6358003"/>
            <a:ext cx="2483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WWW.</a:t>
            </a:r>
            <a:r>
              <a:rPr b="1" i="0" lang="en-US" sz="1400" u="none" cap="none" strike="noStrike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GRAPHICBULB</a:t>
            </a:r>
            <a:r>
              <a:rPr b="0" i="0" lang="en-US" sz="1400" u="none" cap="none" strike="noStrike">
                <a:solidFill>
                  <a:schemeClr val="dk2"/>
                </a:solidFill>
                <a:latin typeface="Raleway Light"/>
                <a:ea typeface="Raleway Light"/>
                <a:cs typeface="Raleway Light"/>
                <a:sym typeface="Raleway Light"/>
              </a:rPr>
              <a:t>.COM</a:t>
            </a:r>
            <a:endParaRPr b="0" i="0" sz="1400" u="none" cap="none" strike="noStrike">
              <a:solidFill>
                <a:schemeClr val="dk2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98" name="Google Shape;98;p35"/>
          <p:cNvSpPr txBox="1"/>
          <p:nvPr/>
        </p:nvSpPr>
        <p:spPr>
          <a:xfrm>
            <a:off x="11491933" y="351075"/>
            <a:ext cx="42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‹#›</a:t>
            </a:fld>
            <a:endParaRPr b="0" i="0" sz="140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mc:AlternateContent>
    <mc:Choice Requires="p14">
      <p:transition spd="slow" p14:dur="10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840">
          <p15:clr>
            <a:srgbClr val="F26B43"/>
          </p15:clr>
        </p15:guide>
        <p15:guide id="2" pos="506">
          <p15:clr>
            <a:srgbClr val="F26B43"/>
          </p15:clr>
        </p15:guide>
        <p15:guide id="3" pos="717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11.png"/><Relationship Id="rId6" Type="http://schemas.openxmlformats.org/officeDocument/2006/relationships/image" Target="../media/image6.png"/><Relationship Id="rId7" Type="http://schemas.openxmlformats.org/officeDocument/2006/relationships/image" Target="../media/image25.png"/><Relationship Id="rId8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hyperlink" Target="https://github.com/devils-angel/pykafkastrea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" title="1.png"/>
          <p:cNvPicPr preferRelativeResize="0"/>
          <p:nvPr/>
        </p:nvPicPr>
        <p:blipFill rotWithShape="1">
          <a:blip r:embed="rId3">
            <a:alphaModFix/>
          </a:blip>
          <a:srcRect b="11557" l="0" r="0" t="11549"/>
          <a:stretch/>
        </p:blipFill>
        <p:spPr>
          <a:xfrm>
            <a:off x="-27432" y="0"/>
            <a:ext cx="123444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2442150" y="1638900"/>
            <a:ext cx="7307700" cy="3580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4D4D4D"/>
              </a:gs>
              <a:gs pos="100000">
                <a:srgbClr val="000000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2442150" y="2506125"/>
            <a:ext cx="73077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-US" sz="72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 PyKafkaStream</a:t>
            </a:r>
            <a:endParaRPr b="1" i="0" sz="72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4451101" y="3795435"/>
            <a:ext cx="313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by: YUKTA PIYUSH SHAH</a:t>
            </a:r>
            <a:endParaRPr b="1" i="0" sz="160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/>
        </p:nvSpPr>
        <p:spPr>
          <a:xfrm flipH="1">
            <a:off x="387150" y="1177875"/>
            <a:ext cx="7222500" cy="11391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txBody>
          <a:bodyPr anchorCtr="0" anchor="ctr" bIns="56500" lIns="91425" spcFirstLastPara="1" rIns="91425" wrap="square" tIns="565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5CE8"/>
              </a:buClr>
              <a:buSzPts val="3200"/>
              <a:buFont typeface="Microsoft Yahei"/>
              <a:buNone/>
            </a:pPr>
            <a:r>
              <a:rPr b="1" i="0" lang="en-US" sz="31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Full Stack Real-Time Web Application with Kafka &amp; Docker</a:t>
            </a:r>
            <a:endParaRPr b="1" i="0" sz="31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12" name="Google Shape;112;p2"/>
          <p:cNvGrpSpPr/>
          <p:nvPr/>
        </p:nvGrpSpPr>
        <p:grpSpPr>
          <a:xfrm flipH="1">
            <a:off x="833348" y="3012397"/>
            <a:ext cx="5034609" cy="833206"/>
            <a:chOff x="6411993" y="1684020"/>
            <a:chExt cx="5034609" cy="833206"/>
          </a:xfrm>
        </p:grpSpPr>
        <p:sp>
          <p:nvSpPr>
            <p:cNvPr id="113" name="Google Shape;113;p2"/>
            <p:cNvSpPr/>
            <p:nvPr/>
          </p:nvSpPr>
          <p:spPr>
            <a:xfrm>
              <a:off x="6411993" y="1684020"/>
              <a:ext cx="833202" cy="833206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3C5CE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127000" rotWithShape="0" algn="ctr">
                <a:srgbClr val="3C5CE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6977193" y="1684020"/>
              <a:ext cx="4469409" cy="7684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8075085" y="-3038122"/>
            <a:ext cx="8202554" cy="8202554"/>
            <a:chOff x="8075085" y="-3038122"/>
            <a:chExt cx="8202554" cy="8202554"/>
          </a:xfrm>
        </p:grpSpPr>
        <p:sp>
          <p:nvSpPr>
            <p:cNvPr id="116" name="Google Shape;116;p2"/>
            <p:cNvSpPr/>
            <p:nvPr/>
          </p:nvSpPr>
          <p:spPr>
            <a:xfrm>
              <a:off x="8075085" y="-3038122"/>
              <a:ext cx="8202554" cy="8202554"/>
            </a:xfrm>
            <a:prstGeom prst="ellipse">
              <a:avLst/>
            </a:prstGeom>
            <a:solidFill>
              <a:srgbClr val="3C5CE8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17" name="Google Shape;117;p2"/>
            <p:cNvSpPr/>
            <p:nvPr/>
          </p:nvSpPr>
          <p:spPr>
            <a:xfrm rot="294983">
              <a:off x="9379412" y="-1571928"/>
              <a:ext cx="5136670" cy="513667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8835534" y="-2277673"/>
              <a:ext cx="6681656" cy="6681656"/>
            </a:xfrm>
            <a:prstGeom prst="ellipse">
              <a:avLst/>
            </a:pr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 flipH="1">
              <a:off x="109784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 flipH="1">
              <a:off x="108260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 flipH="1">
              <a:off x="106736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 flipH="1">
              <a:off x="105212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 flipH="1">
              <a:off x="103688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 flipH="1">
              <a:off x="102164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5" name="Google Shape;125;p2"/>
            <p:cNvSpPr/>
            <p:nvPr/>
          </p:nvSpPr>
          <p:spPr>
            <a:xfrm flipH="1">
              <a:off x="109784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6" name="Google Shape;126;p2"/>
            <p:cNvSpPr/>
            <p:nvPr/>
          </p:nvSpPr>
          <p:spPr>
            <a:xfrm flipH="1">
              <a:off x="108260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 flipH="1">
              <a:off x="106736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 flipH="1">
              <a:off x="105212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29" name="Google Shape;129;p2"/>
            <p:cNvSpPr/>
            <p:nvPr/>
          </p:nvSpPr>
          <p:spPr>
            <a:xfrm flipH="1">
              <a:off x="103688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0" name="Google Shape;130;p2"/>
            <p:cNvSpPr/>
            <p:nvPr/>
          </p:nvSpPr>
          <p:spPr>
            <a:xfrm flipH="1">
              <a:off x="102164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1" name="Google Shape;131;p2"/>
            <p:cNvSpPr/>
            <p:nvPr/>
          </p:nvSpPr>
          <p:spPr>
            <a:xfrm flipH="1">
              <a:off x="109784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2" name="Google Shape;132;p2"/>
            <p:cNvSpPr/>
            <p:nvPr/>
          </p:nvSpPr>
          <p:spPr>
            <a:xfrm flipH="1">
              <a:off x="108260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3" name="Google Shape;133;p2"/>
            <p:cNvSpPr/>
            <p:nvPr/>
          </p:nvSpPr>
          <p:spPr>
            <a:xfrm flipH="1">
              <a:off x="106736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4" name="Google Shape;134;p2"/>
            <p:cNvSpPr/>
            <p:nvPr/>
          </p:nvSpPr>
          <p:spPr>
            <a:xfrm flipH="1">
              <a:off x="105212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 flipH="1">
              <a:off x="103688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6" name="Google Shape;136;p2"/>
            <p:cNvSpPr/>
            <p:nvPr/>
          </p:nvSpPr>
          <p:spPr>
            <a:xfrm flipH="1">
              <a:off x="102164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7" name="Google Shape;137;p2"/>
            <p:cNvSpPr/>
            <p:nvPr/>
          </p:nvSpPr>
          <p:spPr>
            <a:xfrm flipH="1">
              <a:off x="109784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 flipH="1">
              <a:off x="108260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39" name="Google Shape;139;p2"/>
            <p:cNvSpPr/>
            <p:nvPr/>
          </p:nvSpPr>
          <p:spPr>
            <a:xfrm flipH="1">
              <a:off x="106736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 flipH="1">
              <a:off x="105212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41" name="Google Shape;141;p2"/>
            <p:cNvSpPr/>
            <p:nvPr/>
          </p:nvSpPr>
          <p:spPr>
            <a:xfrm flipH="1">
              <a:off x="103688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 flipH="1">
              <a:off x="102164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pic>
        <p:nvPicPr>
          <p:cNvPr descr="图片包含 游戏机, 乐高, 玩具&#10;&#10;描述已自动生成" id="143" name="Google Shape;143;p2"/>
          <p:cNvPicPr preferRelativeResize="0"/>
          <p:nvPr/>
        </p:nvPicPr>
        <p:blipFill rotWithShape="1">
          <a:blip r:embed="rId3">
            <a:alphaModFix/>
          </a:blip>
          <a:srcRect b="6221" l="35457" r="4044" t="22444"/>
          <a:stretch/>
        </p:blipFill>
        <p:spPr>
          <a:xfrm>
            <a:off x="7499000" y="1268337"/>
            <a:ext cx="4693002" cy="432132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"/>
          <p:cNvSpPr/>
          <p:nvPr/>
        </p:nvSpPr>
        <p:spPr>
          <a:xfrm>
            <a:off x="502200" y="2642475"/>
            <a:ext cx="6992400" cy="3603600"/>
          </a:xfrm>
          <a:prstGeom prst="roundRect">
            <a:avLst>
              <a:gd fmla="val 16667" name="adj"/>
            </a:avLst>
          </a:prstGeom>
          <a:solidFill>
            <a:srgbClr val="3C78D8"/>
          </a:solidFill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highlight>
                  <a:srgbClr val="3C78D8"/>
                </a:highlight>
                <a:latin typeface="Roboto"/>
                <a:ea typeface="Roboto"/>
                <a:cs typeface="Roboto"/>
                <a:sym typeface="Roboto"/>
              </a:rPr>
              <a:t>A containerized full-stack system integrating real-time data flow with a modern web architecture.</a:t>
            </a:r>
            <a:endParaRPr b="0" i="0" sz="2250" u="none" cap="none" strike="noStrike">
              <a:solidFill>
                <a:srgbClr val="FFFFFF"/>
              </a:solidFill>
              <a:highlight>
                <a:srgbClr val="3C78D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rgbClr val="FFFFFF"/>
              </a:solidFill>
              <a:highlight>
                <a:srgbClr val="3C78D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FFFFFF"/>
                </a:solidFill>
                <a:highlight>
                  <a:srgbClr val="3C78D8"/>
                </a:highlight>
                <a:latin typeface="Roboto"/>
                <a:ea typeface="Roboto"/>
                <a:cs typeface="Roboto"/>
                <a:sym typeface="Roboto"/>
              </a:rPr>
              <a:t>Features:</a:t>
            </a:r>
            <a:endParaRPr b="0" i="0" sz="2250" u="none" cap="none" strike="noStrike">
              <a:solidFill>
                <a:srgbClr val="FFFFFF"/>
              </a:solidFill>
              <a:highlight>
                <a:srgbClr val="3C78D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t/>
            </a:r>
            <a:endParaRPr b="0" i="0" sz="2250" u="none" cap="none" strike="noStrike">
              <a:solidFill>
                <a:srgbClr val="FFFFFF"/>
              </a:solidFill>
              <a:highlight>
                <a:srgbClr val="3C78D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714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Roboto"/>
              <a:buChar char="●"/>
            </a:pPr>
            <a:r>
              <a:rPr b="0" i="0" lang="en-US" sz="2250" u="none" cap="none" strike="noStrike">
                <a:solidFill>
                  <a:srgbClr val="FFFFFF"/>
                </a:solidFill>
                <a:highlight>
                  <a:srgbClr val="3C78D8"/>
                </a:highlight>
                <a:latin typeface="Roboto"/>
                <a:ea typeface="Roboto"/>
                <a:cs typeface="Roboto"/>
                <a:sym typeface="Roboto"/>
              </a:rPr>
              <a:t>User authentication (register/login)</a:t>
            </a:r>
            <a:endParaRPr b="0" i="0" sz="2250" u="none" cap="none" strike="noStrike">
              <a:solidFill>
                <a:srgbClr val="FFFFFF"/>
              </a:solidFill>
              <a:highlight>
                <a:srgbClr val="3C78D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714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Roboto"/>
              <a:buChar char="●"/>
            </a:pPr>
            <a:r>
              <a:rPr b="0" i="0" lang="en-US" sz="2250" u="none" cap="none" strike="noStrike">
                <a:solidFill>
                  <a:srgbClr val="FFFFFF"/>
                </a:solidFill>
                <a:highlight>
                  <a:srgbClr val="3C78D8"/>
                </a:highlight>
                <a:latin typeface="Roboto"/>
                <a:ea typeface="Roboto"/>
                <a:cs typeface="Roboto"/>
                <a:sym typeface="Roboto"/>
              </a:rPr>
              <a:t>Real-time stock data endpoint</a:t>
            </a:r>
            <a:endParaRPr b="0" i="0" sz="2250" u="none" cap="none" strike="noStrike">
              <a:solidFill>
                <a:srgbClr val="FFFFFF"/>
              </a:solidFill>
              <a:highlight>
                <a:srgbClr val="3C78D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714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Roboto"/>
              <a:buChar char="●"/>
            </a:pPr>
            <a:r>
              <a:rPr b="0" i="0" lang="en-US" sz="2250" u="none" cap="none" strike="noStrike">
                <a:solidFill>
                  <a:srgbClr val="FFFFFF"/>
                </a:solidFill>
                <a:highlight>
                  <a:srgbClr val="3C78D8"/>
                </a:highlight>
                <a:latin typeface="Roboto"/>
                <a:ea typeface="Roboto"/>
                <a:cs typeface="Roboto"/>
                <a:sym typeface="Roboto"/>
              </a:rPr>
              <a:t>Scalable containerized microservice setup</a:t>
            </a:r>
            <a:endParaRPr b="0" i="0" sz="2250" u="none" cap="none" strike="noStrike">
              <a:solidFill>
                <a:srgbClr val="FFFFFF"/>
              </a:solidFill>
              <a:highlight>
                <a:srgbClr val="3C78D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22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7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7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7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57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7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7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57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57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"/>
          <p:cNvSpPr/>
          <p:nvPr/>
        </p:nvSpPr>
        <p:spPr>
          <a:xfrm>
            <a:off x="1905000" y="1415743"/>
            <a:ext cx="1645800" cy="1419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ctr">
              <a:srgbClr val="3C5CE8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3215640" y="2147730"/>
            <a:ext cx="1645800" cy="1419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ctr">
              <a:srgbClr val="3C5CE8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 flipH="1">
            <a:off x="4710675" y="1854325"/>
            <a:ext cx="1404600" cy="3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5CE8"/>
              </a:buClr>
              <a:buSzPts val="1800"/>
              <a:buFont typeface="Microsoft Yahei"/>
              <a:buNone/>
            </a:pPr>
            <a:r>
              <a:rPr b="0" i="0" lang="en-US" sz="18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FLASK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 txBox="1"/>
          <p:nvPr/>
        </p:nvSpPr>
        <p:spPr>
          <a:xfrm flipH="1">
            <a:off x="5906490" y="3032097"/>
            <a:ext cx="25515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3"/>
          <p:cNvGrpSpPr/>
          <p:nvPr/>
        </p:nvGrpSpPr>
        <p:grpSpPr>
          <a:xfrm>
            <a:off x="319901" y="1838492"/>
            <a:ext cx="1514655" cy="369492"/>
            <a:chOff x="2038394" y="1939197"/>
            <a:chExt cx="1580400" cy="414600"/>
          </a:xfrm>
        </p:grpSpPr>
        <p:cxnSp>
          <p:nvCxnSpPr>
            <p:cNvPr id="154" name="Google Shape;154;p3"/>
            <p:cNvCxnSpPr/>
            <p:nvPr/>
          </p:nvCxnSpPr>
          <p:spPr>
            <a:xfrm>
              <a:off x="2484120" y="2353791"/>
              <a:ext cx="990600" cy="0"/>
            </a:xfrm>
            <a:prstGeom prst="straightConnector1">
              <a:avLst/>
            </a:prstGeom>
            <a:noFill/>
            <a:ln cap="flat" cmpd="sng" w="12700">
              <a:solidFill>
                <a:srgbClr val="3C5CE8"/>
              </a:solidFill>
              <a:prstDash val="dash"/>
              <a:miter lim="800000"/>
              <a:headEnd len="med" w="med" type="oval"/>
              <a:tailEnd len="sm" w="sm" type="none"/>
            </a:ln>
          </p:spPr>
        </p:cxnSp>
        <p:sp>
          <p:nvSpPr>
            <p:cNvPr id="155" name="Google Shape;155;p3"/>
            <p:cNvSpPr txBox="1"/>
            <p:nvPr/>
          </p:nvSpPr>
          <p:spPr>
            <a:xfrm>
              <a:off x="2038394" y="1939197"/>
              <a:ext cx="1580400" cy="41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5CE8"/>
                </a:buClr>
                <a:buSzPts val="1800"/>
                <a:buFont typeface="Microsoft Yahei"/>
                <a:buNone/>
              </a:pPr>
              <a:r>
                <a:rPr b="0" i="0" lang="en-US" sz="18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REACT	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" name="Google Shape;156;p3"/>
          <p:cNvSpPr/>
          <p:nvPr/>
        </p:nvSpPr>
        <p:spPr>
          <a:xfrm>
            <a:off x="4526265" y="2923951"/>
            <a:ext cx="1645800" cy="1419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ctr">
              <a:srgbClr val="3C5CE8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57" name="Google Shape;157;p3"/>
          <p:cNvGrpSpPr/>
          <p:nvPr/>
        </p:nvGrpSpPr>
        <p:grpSpPr>
          <a:xfrm>
            <a:off x="-781050" y="-665637"/>
            <a:ext cx="7364729" cy="1615365"/>
            <a:chOff x="-781050" y="-665637"/>
            <a:chExt cx="7364729" cy="1615365"/>
          </a:xfrm>
        </p:grpSpPr>
        <p:sp>
          <p:nvSpPr>
            <p:cNvPr id="158" name="Google Shape;158;p3"/>
            <p:cNvSpPr/>
            <p:nvPr/>
          </p:nvSpPr>
          <p:spPr>
            <a:xfrm flipH="1" rot="10800000">
              <a:off x="-781050" y="-665637"/>
              <a:ext cx="1539240" cy="153924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  <a:effectLst>
              <a:outerShdw blurRad="127000" rotWithShape="0" algn="ctr">
                <a:srgbClr val="222A3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59" name="Google Shape;159;p3"/>
            <p:cNvSpPr txBox="1"/>
            <p:nvPr/>
          </p:nvSpPr>
          <p:spPr>
            <a:xfrm flipH="1">
              <a:off x="803279" y="365028"/>
              <a:ext cx="57804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Technology Stack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0" name="Google Shape;160;p3"/>
          <p:cNvCxnSpPr/>
          <p:nvPr/>
        </p:nvCxnSpPr>
        <p:spPr>
          <a:xfrm>
            <a:off x="6355080" y="3633474"/>
            <a:ext cx="990600" cy="0"/>
          </a:xfrm>
          <a:prstGeom prst="straightConnector1">
            <a:avLst/>
          </a:prstGeom>
          <a:noFill/>
          <a:ln cap="flat" cmpd="sng" w="12700">
            <a:solidFill>
              <a:srgbClr val="3C5CE8"/>
            </a:solidFill>
            <a:prstDash val="dash"/>
            <a:miter lim="800000"/>
            <a:headEnd len="med" w="med" type="oval"/>
            <a:tailEnd len="sm" w="sm" type="none"/>
          </a:ln>
        </p:spPr>
      </p:cxnSp>
      <p:sp>
        <p:nvSpPr>
          <p:cNvPr id="161" name="Google Shape;161;p3"/>
          <p:cNvSpPr/>
          <p:nvPr/>
        </p:nvSpPr>
        <p:spPr>
          <a:xfrm>
            <a:off x="-1798684" y="4766734"/>
            <a:ext cx="3200100" cy="3200100"/>
          </a:xfrm>
          <a:prstGeom prst="ellipse">
            <a:avLst/>
          </a:prstGeom>
          <a:noFill/>
          <a:ln cap="flat" cmpd="sng" w="889000">
            <a:solidFill>
              <a:srgbClr val="4060E8">
                <a:alpha val="14509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162" name="Google Shape;162;p3"/>
          <p:cNvGrpSpPr/>
          <p:nvPr/>
        </p:nvGrpSpPr>
        <p:grpSpPr>
          <a:xfrm>
            <a:off x="8464477" y="-2147091"/>
            <a:ext cx="10847400" cy="10847400"/>
            <a:chOff x="8235877" y="-1994691"/>
            <a:chExt cx="10847400" cy="10847400"/>
          </a:xfrm>
        </p:grpSpPr>
        <p:sp>
          <p:nvSpPr>
            <p:cNvPr id="163" name="Google Shape;163;p3"/>
            <p:cNvSpPr/>
            <p:nvPr/>
          </p:nvSpPr>
          <p:spPr>
            <a:xfrm>
              <a:off x="8235877" y="-1994691"/>
              <a:ext cx="10847400" cy="10847400"/>
            </a:xfrm>
            <a:prstGeom prst="ellipse">
              <a:avLst/>
            </a:prstGeom>
            <a:solidFill>
              <a:srgbClr val="4060E8">
                <a:alpha val="1450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8950408" y="-1280160"/>
              <a:ext cx="9418200" cy="9418200"/>
            </a:xfrm>
            <a:prstGeom prst="ellipse">
              <a:avLst/>
            </a:prstGeom>
            <a:solidFill>
              <a:srgbClr val="4060E8">
                <a:alpha val="1450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9409953" y="-820615"/>
              <a:ext cx="8499300" cy="8499300"/>
            </a:xfrm>
            <a:prstGeom prst="ellipse">
              <a:avLst/>
            </a:pr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66" name="Google Shape;166;p3"/>
            <p:cNvSpPr/>
            <p:nvPr/>
          </p:nvSpPr>
          <p:spPr>
            <a:xfrm flipH="1">
              <a:off x="115567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 flipH="1">
              <a:off x="114043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 flipH="1">
              <a:off x="112519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 flipH="1">
              <a:off x="110995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 flipH="1">
              <a:off x="109471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 flipH="1">
              <a:off x="107947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2" name="Google Shape;172;p3"/>
            <p:cNvSpPr/>
            <p:nvPr/>
          </p:nvSpPr>
          <p:spPr>
            <a:xfrm flipH="1">
              <a:off x="115567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3" name="Google Shape;173;p3"/>
            <p:cNvSpPr/>
            <p:nvPr/>
          </p:nvSpPr>
          <p:spPr>
            <a:xfrm flipH="1">
              <a:off x="114043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4" name="Google Shape;174;p3"/>
            <p:cNvSpPr/>
            <p:nvPr/>
          </p:nvSpPr>
          <p:spPr>
            <a:xfrm flipH="1">
              <a:off x="112519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 flipH="1">
              <a:off x="110995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 flipH="1">
              <a:off x="109471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7" name="Google Shape;177;p3"/>
            <p:cNvSpPr/>
            <p:nvPr/>
          </p:nvSpPr>
          <p:spPr>
            <a:xfrm flipH="1">
              <a:off x="107947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8" name="Google Shape;178;p3"/>
            <p:cNvSpPr/>
            <p:nvPr/>
          </p:nvSpPr>
          <p:spPr>
            <a:xfrm flipH="1">
              <a:off x="115567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79" name="Google Shape;179;p3"/>
            <p:cNvSpPr/>
            <p:nvPr/>
          </p:nvSpPr>
          <p:spPr>
            <a:xfrm flipH="1">
              <a:off x="114043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0" name="Google Shape;180;p3"/>
            <p:cNvSpPr/>
            <p:nvPr/>
          </p:nvSpPr>
          <p:spPr>
            <a:xfrm flipH="1">
              <a:off x="112519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1" name="Google Shape;181;p3"/>
            <p:cNvSpPr/>
            <p:nvPr/>
          </p:nvSpPr>
          <p:spPr>
            <a:xfrm flipH="1">
              <a:off x="110995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2" name="Google Shape;182;p3"/>
            <p:cNvSpPr/>
            <p:nvPr/>
          </p:nvSpPr>
          <p:spPr>
            <a:xfrm flipH="1">
              <a:off x="109471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3" name="Google Shape;183;p3"/>
            <p:cNvSpPr/>
            <p:nvPr/>
          </p:nvSpPr>
          <p:spPr>
            <a:xfrm flipH="1">
              <a:off x="107947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4" name="Google Shape;184;p3"/>
            <p:cNvSpPr/>
            <p:nvPr/>
          </p:nvSpPr>
          <p:spPr>
            <a:xfrm flipH="1">
              <a:off x="115567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5" name="Google Shape;185;p3"/>
            <p:cNvSpPr/>
            <p:nvPr/>
          </p:nvSpPr>
          <p:spPr>
            <a:xfrm flipH="1">
              <a:off x="114043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6" name="Google Shape;186;p3"/>
            <p:cNvSpPr/>
            <p:nvPr/>
          </p:nvSpPr>
          <p:spPr>
            <a:xfrm flipH="1">
              <a:off x="112519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7" name="Google Shape;187;p3"/>
            <p:cNvSpPr/>
            <p:nvPr/>
          </p:nvSpPr>
          <p:spPr>
            <a:xfrm flipH="1">
              <a:off x="110995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8" name="Google Shape;188;p3"/>
            <p:cNvSpPr/>
            <p:nvPr/>
          </p:nvSpPr>
          <p:spPr>
            <a:xfrm flipH="1">
              <a:off x="109471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189" name="Google Shape;189;p3"/>
            <p:cNvSpPr/>
            <p:nvPr/>
          </p:nvSpPr>
          <p:spPr>
            <a:xfrm flipH="1">
              <a:off x="107947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grpSp>
        <p:nvGrpSpPr>
          <p:cNvPr id="190" name="Google Shape;190;p3"/>
          <p:cNvGrpSpPr/>
          <p:nvPr/>
        </p:nvGrpSpPr>
        <p:grpSpPr>
          <a:xfrm>
            <a:off x="4769330" y="-1326312"/>
            <a:ext cx="5337095" cy="3615912"/>
            <a:chOff x="2484120" y="-1262121"/>
            <a:chExt cx="5337095" cy="3615912"/>
          </a:xfrm>
        </p:grpSpPr>
        <p:cxnSp>
          <p:nvCxnSpPr>
            <p:cNvPr id="191" name="Google Shape;191;p3"/>
            <p:cNvCxnSpPr/>
            <p:nvPr/>
          </p:nvCxnSpPr>
          <p:spPr>
            <a:xfrm>
              <a:off x="2484120" y="2353791"/>
              <a:ext cx="990600" cy="0"/>
            </a:xfrm>
            <a:prstGeom prst="straightConnector1">
              <a:avLst/>
            </a:prstGeom>
            <a:noFill/>
            <a:ln cap="flat" cmpd="sng" w="12700">
              <a:solidFill>
                <a:srgbClr val="3C5CE8"/>
              </a:solidFill>
              <a:prstDash val="dash"/>
              <a:miter lim="800000"/>
              <a:headEnd len="med" w="med" type="oval"/>
              <a:tailEnd len="sm" w="sm" type="none"/>
            </a:ln>
          </p:spPr>
        </p:cxnSp>
        <p:sp>
          <p:nvSpPr>
            <p:cNvPr id="192" name="Google Shape;192;p3"/>
            <p:cNvSpPr txBox="1"/>
            <p:nvPr/>
          </p:nvSpPr>
          <p:spPr>
            <a:xfrm>
              <a:off x="4844615" y="-1262121"/>
              <a:ext cx="2976600" cy="36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13716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C5CE8"/>
                </a:buClr>
                <a:buSzPts val="1800"/>
                <a:buFont typeface="Microsoft Yahei"/>
                <a:buNone/>
              </a:pPr>
              <a:r>
                <a:rPr b="0" i="0" lang="en-US" sz="18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3"/>
          <p:cNvSpPr txBox="1"/>
          <p:nvPr/>
        </p:nvSpPr>
        <p:spPr>
          <a:xfrm>
            <a:off x="4916075" y="32114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KAFKA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"/>
          <p:cNvSpPr/>
          <p:nvPr/>
        </p:nvSpPr>
        <p:spPr>
          <a:xfrm>
            <a:off x="745900" y="991250"/>
            <a:ext cx="4301700" cy="738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"/>
          <p:cNvSpPr/>
          <p:nvPr/>
        </p:nvSpPr>
        <p:spPr>
          <a:xfrm>
            <a:off x="4526265" y="4332926"/>
            <a:ext cx="1645800" cy="1419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ctr">
              <a:srgbClr val="3C5CE8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196" name="Google Shape;196;p3"/>
          <p:cNvSpPr/>
          <p:nvPr/>
        </p:nvSpPr>
        <p:spPr>
          <a:xfrm>
            <a:off x="3230865" y="5018726"/>
            <a:ext cx="1645800" cy="1419000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  <a:effectLst>
            <a:outerShdw blurRad="127000" rotWithShape="0" algn="ctr">
              <a:srgbClr val="3C5CE8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197" name="Google Shape;197;p3"/>
          <p:cNvCxnSpPr/>
          <p:nvPr/>
        </p:nvCxnSpPr>
        <p:spPr>
          <a:xfrm>
            <a:off x="6324605" y="5104949"/>
            <a:ext cx="990600" cy="0"/>
          </a:xfrm>
          <a:prstGeom prst="straightConnector1">
            <a:avLst/>
          </a:prstGeom>
          <a:noFill/>
          <a:ln cap="flat" cmpd="sng" w="12700">
            <a:solidFill>
              <a:srgbClr val="3C5CE8"/>
            </a:solidFill>
            <a:prstDash val="dash"/>
            <a:miter lim="800000"/>
            <a:headEnd len="med" w="med" type="oval"/>
            <a:tailEnd len="sm" w="sm" type="none"/>
          </a:ln>
        </p:spPr>
      </p:cxnSp>
      <p:sp>
        <p:nvSpPr>
          <p:cNvPr id="198" name="Google Shape;198;p3"/>
          <p:cNvSpPr txBox="1"/>
          <p:nvPr/>
        </p:nvSpPr>
        <p:spPr>
          <a:xfrm>
            <a:off x="5047600" y="4633225"/>
            <a:ext cx="290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DOCKER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3"/>
          <p:cNvCxnSpPr/>
          <p:nvPr/>
        </p:nvCxnSpPr>
        <p:spPr>
          <a:xfrm>
            <a:off x="2057405" y="5790749"/>
            <a:ext cx="990600" cy="0"/>
          </a:xfrm>
          <a:prstGeom prst="straightConnector1">
            <a:avLst/>
          </a:prstGeom>
          <a:noFill/>
          <a:ln cap="flat" cmpd="sng" w="12700">
            <a:solidFill>
              <a:srgbClr val="3C5CE8"/>
            </a:solidFill>
            <a:prstDash val="dash"/>
            <a:miter lim="800000"/>
            <a:headEnd len="med" w="med" type="oval"/>
            <a:tailEnd len="sm" w="sm" type="none"/>
          </a:ln>
        </p:spPr>
      </p:cxnSp>
      <p:sp>
        <p:nvSpPr>
          <p:cNvPr id="200" name="Google Shape;200;p3"/>
          <p:cNvSpPr txBox="1"/>
          <p:nvPr/>
        </p:nvSpPr>
        <p:spPr>
          <a:xfrm>
            <a:off x="688075" y="5395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SQLITE</a:t>
            </a:r>
            <a:endParaRPr b="0" i="0" sz="18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pic>
        <p:nvPicPr>
          <p:cNvPr descr="Atom icon vector. Isolated contour symbol illustration (provided by Getty Images)" id="201" name="Google Shape;20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663" y="1602951"/>
            <a:ext cx="1044598" cy="1044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7297" y="2523925"/>
            <a:ext cx="742475" cy="6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76675" y="3185813"/>
            <a:ext cx="814596" cy="89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3875" y="4595000"/>
            <a:ext cx="990600" cy="860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81705" y="5172888"/>
            <a:ext cx="1044575" cy="1110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4"/>
          <p:cNvCxnSpPr/>
          <p:nvPr/>
        </p:nvCxnSpPr>
        <p:spPr>
          <a:xfrm>
            <a:off x="5651938" y="34164"/>
            <a:ext cx="888000" cy="0"/>
          </a:xfrm>
          <a:prstGeom prst="straightConnector1">
            <a:avLst/>
          </a:prstGeom>
          <a:noFill/>
          <a:ln cap="flat" cmpd="sng" w="76200">
            <a:solidFill>
              <a:srgbClr val="3C5CE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1" name="Google Shape;211;p4"/>
          <p:cNvSpPr txBox="1"/>
          <p:nvPr/>
        </p:nvSpPr>
        <p:spPr>
          <a:xfrm>
            <a:off x="333225" y="873600"/>
            <a:ext cx="11298300" cy="5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React Frontend</a:t>
            </a:r>
            <a:r>
              <a:rPr b="1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Sends API requests to Flask backend.</a:t>
            </a:r>
            <a:br>
              <a:rPr b="1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Flask Backend</a:t>
            </a:r>
            <a:r>
              <a:rPr b="1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Handles user auth, queries DB, and integrates Kafka for real-time data.</a:t>
            </a:r>
            <a:br>
              <a:rPr b="1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SQLite Database</a:t>
            </a:r>
            <a:r>
              <a:rPr b="1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Stores user credentials &amp; stock information.</a:t>
            </a:r>
            <a:br>
              <a:rPr b="1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Kafka + Zookeeper</a:t>
            </a:r>
            <a:r>
              <a:rPr b="1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Manages message streaming for stock price updates.</a:t>
            </a:r>
            <a:br>
              <a:rPr b="1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 i="0" sz="2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b="1" i="0" lang="en-US" sz="21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Docker Compose</a:t>
            </a:r>
            <a:r>
              <a:rPr b="1" i="0" lang="en-US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– Orchestrates all containers into a single deployable unit.</a:t>
            </a:r>
            <a:endParaRPr b="1" i="0" sz="2700" u="none" cap="none" strike="noStrike">
              <a:solidFill>
                <a:srgbClr val="6666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4"/>
          <p:cNvSpPr/>
          <p:nvPr/>
        </p:nvSpPr>
        <p:spPr>
          <a:xfrm flipH="1" rot="10800000">
            <a:off x="-781050" y="-665637"/>
            <a:ext cx="1539240" cy="1539240"/>
          </a:xfrm>
          <a:custGeom>
            <a:rect b="b" l="l" r="r" t="t"/>
            <a:pathLst>
              <a:path extrusionOk="0" h="9472246" w="9472246">
                <a:moveTo>
                  <a:pt x="4736123" y="1711569"/>
                </a:moveTo>
                <a:cubicBezTo>
                  <a:pt x="3065708" y="1711569"/>
                  <a:pt x="1711569" y="3065708"/>
                  <a:pt x="1711569" y="4736123"/>
                </a:cubicBezTo>
                <a:cubicBezTo>
                  <a:pt x="1711569" y="6406538"/>
                  <a:pt x="3065708" y="7760677"/>
                  <a:pt x="4736123" y="7760677"/>
                </a:cubicBezTo>
                <a:cubicBezTo>
                  <a:pt x="6406538" y="7760677"/>
                  <a:pt x="7760677" y="6406538"/>
                  <a:pt x="7760677" y="4736123"/>
                </a:cubicBezTo>
                <a:cubicBezTo>
                  <a:pt x="7760677" y="3065708"/>
                  <a:pt x="6406538" y="1711569"/>
                  <a:pt x="4736123" y="1711569"/>
                </a:cubicBezTo>
                <a:close/>
                <a:moveTo>
                  <a:pt x="4736123" y="0"/>
                </a:moveTo>
                <a:cubicBezTo>
                  <a:pt x="7351812" y="0"/>
                  <a:pt x="9472246" y="2120434"/>
                  <a:pt x="9472246" y="4736123"/>
                </a:cubicBezTo>
                <a:cubicBezTo>
                  <a:pt x="9472246" y="7351812"/>
                  <a:pt x="7351812" y="9472246"/>
                  <a:pt x="4736123" y="9472246"/>
                </a:cubicBezTo>
                <a:cubicBezTo>
                  <a:pt x="2120434" y="9472246"/>
                  <a:pt x="0" y="7351812"/>
                  <a:pt x="0" y="4736123"/>
                </a:cubicBezTo>
                <a:cubicBezTo>
                  <a:pt x="0" y="2120434"/>
                  <a:pt x="2120434" y="0"/>
                  <a:pt x="4736123" y="0"/>
                </a:cubicBezTo>
                <a:close/>
              </a:path>
            </a:pathLst>
          </a:custGeom>
          <a:solidFill>
            <a:srgbClr val="3C5CE8"/>
          </a:solidFill>
          <a:ln>
            <a:noFill/>
          </a:ln>
          <a:effectLst>
            <a:outerShdw blurRad="127000" rotWithShape="0" algn="ctr">
              <a:srgbClr val="222A3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213" name="Google Shape;213;p4"/>
          <p:cNvGrpSpPr/>
          <p:nvPr/>
        </p:nvGrpSpPr>
        <p:grpSpPr>
          <a:xfrm>
            <a:off x="9308838" y="-4257437"/>
            <a:ext cx="5978875" cy="5978875"/>
            <a:chOff x="8075085" y="-3038122"/>
            <a:chExt cx="8202600" cy="8202600"/>
          </a:xfrm>
        </p:grpSpPr>
        <p:sp>
          <p:nvSpPr>
            <p:cNvPr id="214" name="Google Shape;214;p4"/>
            <p:cNvSpPr/>
            <p:nvPr/>
          </p:nvSpPr>
          <p:spPr>
            <a:xfrm>
              <a:off x="8075085" y="-3038122"/>
              <a:ext cx="8202600" cy="8202600"/>
            </a:xfrm>
            <a:prstGeom prst="ellipse">
              <a:avLst/>
            </a:prstGeom>
            <a:solidFill>
              <a:srgbClr val="3C5CE8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15" name="Google Shape;215;p4"/>
            <p:cNvSpPr/>
            <p:nvPr/>
          </p:nvSpPr>
          <p:spPr>
            <a:xfrm rot="301618">
              <a:off x="9374132" y="-1567499"/>
              <a:ext cx="5134763" cy="5134763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16" name="Google Shape;216;p4"/>
            <p:cNvSpPr/>
            <p:nvPr/>
          </p:nvSpPr>
          <p:spPr>
            <a:xfrm>
              <a:off x="8835534" y="-2277673"/>
              <a:ext cx="6681600" cy="6681600"/>
            </a:xfrm>
            <a:prstGeom prst="ellipse">
              <a:avLst/>
            </a:pr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17" name="Google Shape;217;p4"/>
            <p:cNvSpPr/>
            <p:nvPr/>
          </p:nvSpPr>
          <p:spPr>
            <a:xfrm flipH="1">
              <a:off x="109784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18" name="Google Shape;218;p4"/>
            <p:cNvSpPr/>
            <p:nvPr/>
          </p:nvSpPr>
          <p:spPr>
            <a:xfrm flipH="1">
              <a:off x="108260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19" name="Google Shape;219;p4"/>
            <p:cNvSpPr/>
            <p:nvPr/>
          </p:nvSpPr>
          <p:spPr>
            <a:xfrm flipH="1">
              <a:off x="106736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20" name="Google Shape;220;p4"/>
            <p:cNvSpPr/>
            <p:nvPr/>
          </p:nvSpPr>
          <p:spPr>
            <a:xfrm flipH="1">
              <a:off x="105212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21" name="Google Shape;221;p4"/>
            <p:cNvSpPr/>
            <p:nvPr/>
          </p:nvSpPr>
          <p:spPr>
            <a:xfrm flipH="1">
              <a:off x="103688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22" name="Google Shape;222;p4"/>
            <p:cNvSpPr/>
            <p:nvPr/>
          </p:nvSpPr>
          <p:spPr>
            <a:xfrm flipH="1">
              <a:off x="102164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23" name="Google Shape;223;p4"/>
            <p:cNvSpPr/>
            <p:nvPr/>
          </p:nvSpPr>
          <p:spPr>
            <a:xfrm flipH="1">
              <a:off x="109784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24" name="Google Shape;224;p4"/>
            <p:cNvSpPr/>
            <p:nvPr/>
          </p:nvSpPr>
          <p:spPr>
            <a:xfrm flipH="1">
              <a:off x="108260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25" name="Google Shape;225;p4"/>
            <p:cNvSpPr/>
            <p:nvPr/>
          </p:nvSpPr>
          <p:spPr>
            <a:xfrm flipH="1">
              <a:off x="106736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26" name="Google Shape;226;p4"/>
            <p:cNvSpPr/>
            <p:nvPr/>
          </p:nvSpPr>
          <p:spPr>
            <a:xfrm flipH="1">
              <a:off x="105212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27" name="Google Shape;227;p4"/>
            <p:cNvSpPr/>
            <p:nvPr/>
          </p:nvSpPr>
          <p:spPr>
            <a:xfrm flipH="1">
              <a:off x="103688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28" name="Google Shape;228;p4"/>
            <p:cNvSpPr/>
            <p:nvPr/>
          </p:nvSpPr>
          <p:spPr>
            <a:xfrm flipH="1">
              <a:off x="102164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29" name="Google Shape;229;p4"/>
            <p:cNvSpPr/>
            <p:nvPr/>
          </p:nvSpPr>
          <p:spPr>
            <a:xfrm flipH="1">
              <a:off x="109784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0" name="Google Shape;230;p4"/>
            <p:cNvSpPr/>
            <p:nvPr/>
          </p:nvSpPr>
          <p:spPr>
            <a:xfrm flipH="1">
              <a:off x="108260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1" name="Google Shape;231;p4"/>
            <p:cNvSpPr/>
            <p:nvPr/>
          </p:nvSpPr>
          <p:spPr>
            <a:xfrm flipH="1">
              <a:off x="106736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2" name="Google Shape;232;p4"/>
            <p:cNvSpPr/>
            <p:nvPr/>
          </p:nvSpPr>
          <p:spPr>
            <a:xfrm flipH="1">
              <a:off x="105212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3" name="Google Shape;233;p4"/>
            <p:cNvSpPr/>
            <p:nvPr/>
          </p:nvSpPr>
          <p:spPr>
            <a:xfrm flipH="1">
              <a:off x="103688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4" name="Google Shape;234;p4"/>
            <p:cNvSpPr/>
            <p:nvPr/>
          </p:nvSpPr>
          <p:spPr>
            <a:xfrm flipH="1">
              <a:off x="102164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5" name="Google Shape;235;p4"/>
            <p:cNvSpPr/>
            <p:nvPr/>
          </p:nvSpPr>
          <p:spPr>
            <a:xfrm flipH="1">
              <a:off x="109784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6" name="Google Shape;236;p4"/>
            <p:cNvSpPr/>
            <p:nvPr/>
          </p:nvSpPr>
          <p:spPr>
            <a:xfrm flipH="1">
              <a:off x="108260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7" name="Google Shape;237;p4"/>
            <p:cNvSpPr/>
            <p:nvPr/>
          </p:nvSpPr>
          <p:spPr>
            <a:xfrm flipH="1">
              <a:off x="106736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8" name="Google Shape;238;p4"/>
            <p:cNvSpPr/>
            <p:nvPr/>
          </p:nvSpPr>
          <p:spPr>
            <a:xfrm flipH="1">
              <a:off x="105212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39" name="Google Shape;239;p4"/>
            <p:cNvSpPr/>
            <p:nvPr/>
          </p:nvSpPr>
          <p:spPr>
            <a:xfrm flipH="1">
              <a:off x="103688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40" name="Google Shape;240;p4"/>
            <p:cNvSpPr/>
            <p:nvPr/>
          </p:nvSpPr>
          <p:spPr>
            <a:xfrm flipH="1">
              <a:off x="102164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241" name="Google Shape;241;p4"/>
          <p:cNvSpPr txBox="1"/>
          <p:nvPr/>
        </p:nvSpPr>
        <p:spPr>
          <a:xfrm flipH="1">
            <a:off x="803375" y="365025"/>
            <a:ext cx="9998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System Architecture</a:t>
            </a:r>
            <a:endParaRPr b="0" i="0" sz="32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745900" y="991250"/>
            <a:ext cx="4301700" cy="738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5"/>
          <p:cNvGrpSpPr/>
          <p:nvPr/>
        </p:nvGrpSpPr>
        <p:grpSpPr>
          <a:xfrm>
            <a:off x="-781050" y="-665637"/>
            <a:ext cx="11583125" cy="1615362"/>
            <a:chOff x="-781050" y="-665637"/>
            <a:chExt cx="11583125" cy="1615362"/>
          </a:xfrm>
        </p:grpSpPr>
        <p:sp>
          <p:nvSpPr>
            <p:cNvPr id="248" name="Google Shape;248;p5"/>
            <p:cNvSpPr/>
            <p:nvPr/>
          </p:nvSpPr>
          <p:spPr>
            <a:xfrm flipH="1" rot="10800000">
              <a:off x="-781050" y="-665637"/>
              <a:ext cx="1539240" cy="153924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  <a:effectLst>
              <a:outerShdw blurRad="127000" rotWithShape="0" algn="ctr">
                <a:srgbClr val="222A3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49" name="Google Shape;249;p5"/>
            <p:cNvSpPr txBox="1"/>
            <p:nvPr/>
          </p:nvSpPr>
          <p:spPr>
            <a:xfrm flipH="1">
              <a:off x="803375" y="365025"/>
              <a:ext cx="99987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System Architecture Visualisation</a:t>
              </a:r>
              <a:endParaRPr b="0" i="0" sz="32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250" name="Google Shape;250;p5"/>
          <p:cNvSpPr/>
          <p:nvPr/>
        </p:nvSpPr>
        <p:spPr>
          <a:xfrm>
            <a:off x="3320427" y="1367025"/>
            <a:ext cx="1132800" cy="1132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1103700" y="1405100"/>
            <a:ext cx="1132800" cy="1132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5537159" y="1386075"/>
            <a:ext cx="1132800" cy="1132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53" name="Google Shape;253;p5"/>
          <p:cNvCxnSpPr/>
          <p:nvPr/>
        </p:nvCxnSpPr>
        <p:spPr>
          <a:xfrm>
            <a:off x="2205052" y="1933425"/>
            <a:ext cx="1178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54" name="Google Shape;254;p5"/>
          <p:cNvCxnSpPr>
            <a:stCxn id="250" idx="6"/>
            <a:endCxn id="252" idx="2"/>
          </p:cNvCxnSpPr>
          <p:nvPr/>
        </p:nvCxnSpPr>
        <p:spPr>
          <a:xfrm>
            <a:off x="4453227" y="1933425"/>
            <a:ext cx="1083900" cy="19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descr="Atom icon vector. Isolated contour symbol illustration (provided by Getty Images)" id="255" name="Google Shape;2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08" y="1629200"/>
            <a:ext cx="684585" cy="68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7097" y="1619175"/>
            <a:ext cx="742475" cy="66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61250" y="1579063"/>
            <a:ext cx="684600" cy="72791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"/>
          <p:cNvSpPr/>
          <p:nvPr/>
        </p:nvSpPr>
        <p:spPr>
          <a:xfrm>
            <a:off x="1209600" y="4091475"/>
            <a:ext cx="1132800" cy="1132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3547100" y="4091463"/>
            <a:ext cx="1132800" cy="1132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1209600" y="3060600"/>
            <a:ext cx="6841800" cy="508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-&gt; FLASK -&gt; SQLITE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1209600" y="5747000"/>
            <a:ext cx="6841800" cy="508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KAFKA PRODUCERS -&gt; KAFKA TOPICS -&gt; CONSUMERS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5884600" y="3762437"/>
            <a:ext cx="741000" cy="741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5884600" y="4754712"/>
            <a:ext cx="741000" cy="741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264" name="Google Shape;264;p5"/>
          <p:cNvCxnSpPr>
            <a:stCxn id="258" idx="6"/>
            <a:endCxn id="259" idx="2"/>
          </p:cNvCxnSpPr>
          <p:nvPr/>
        </p:nvCxnSpPr>
        <p:spPr>
          <a:xfrm>
            <a:off x="2342400" y="4657875"/>
            <a:ext cx="1204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5" name="Google Shape;265;p5"/>
          <p:cNvCxnSpPr>
            <a:stCxn id="259" idx="6"/>
          </p:cNvCxnSpPr>
          <p:nvPr/>
        </p:nvCxnSpPr>
        <p:spPr>
          <a:xfrm flipH="1" rot="10800000">
            <a:off x="4679900" y="4075863"/>
            <a:ext cx="1269600" cy="5820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66" name="Google Shape;266;p5"/>
          <p:cNvCxnSpPr>
            <a:stCxn id="259" idx="6"/>
          </p:cNvCxnSpPr>
          <p:nvPr/>
        </p:nvCxnSpPr>
        <p:spPr>
          <a:xfrm>
            <a:off x="4679900" y="4657863"/>
            <a:ext cx="1269600" cy="41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267" name="Google Shape;26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4950" y="4281663"/>
            <a:ext cx="952500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41650" y="4403800"/>
            <a:ext cx="943775" cy="50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vatar (provided by Getty Images)" id="269" name="Google Shape;26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43975" y="3956700"/>
            <a:ext cx="410102" cy="410102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pic>
        <p:nvPicPr>
          <p:cNvPr id="270" name="Google Shape;27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50045" y="4941125"/>
            <a:ext cx="410100" cy="36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"/>
          <p:cNvSpPr/>
          <p:nvPr/>
        </p:nvSpPr>
        <p:spPr>
          <a:xfrm>
            <a:off x="8287000" y="1064450"/>
            <a:ext cx="1083900" cy="5190900"/>
          </a:xfrm>
          <a:prstGeom prst="rightBrace">
            <a:avLst>
              <a:gd fmla="val 47670" name="adj1"/>
              <a:gd fmla="val 4947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9606509" y="2862600"/>
            <a:ext cx="1132800" cy="11328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73" name="Google Shape;273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801663" y="3106372"/>
            <a:ext cx="742475" cy="64524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"/>
          <p:cNvSpPr/>
          <p:nvPr/>
        </p:nvSpPr>
        <p:spPr>
          <a:xfrm>
            <a:off x="9370900" y="4281663"/>
            <a:ext cx="2021400" cy="5082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</a:t>
            </a:r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745900" y="991250"/>
            <a:ext cx="6949500" cy="73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0" name="Google Shape;280;p6"/>
          <p:cNvCxnSpPr/>
          <p:nvPr/>
        </p:nvCxnSpPr>
        <p:spPr>
          <a:xfrm>
            <a:off x="5651938" y="34164"/>
            <a:ext cx="888000" cy="0"/>
          </a:xfrm>
          <a:prstGeom prst="straightConnector1">
            <a:avLst/>
          </a:prstGeom>
          <a:noFill/>
          <a:ln cap="flat" cmpd="sng" w="76200">
            <a:solidFill>
              <a:srgbClr val="3C5CE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1" name="Google Shape;281;p6"/>
          <p:cNvSpPr txBox="1"/>
          <p:nvPr/>
        </p:nvSpPr>
        <p:spPr>
          <a:xfrm>
            <a:off x="758200" y="1280575"/>
            <a:ext cx="11298300" cy="5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Flask API Endpoints:</a:t>
            </a:r>
            <a:endParaRPr b="1" i="0" sz="1800" u="none" cap="none" strike="noStrike">
              <a:solidFill>
                <a:srgbClr val="3C5C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/register → Secure user signup with password hashing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/login → Authentication via stored hashed passwords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/data → Fetch stock details from SQLite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Database Layer:</a:t>
            </a:r>
            <a:endParaRPr b="1" i="0" sz="1800" u="none" cap="none" strike="noStrike">
              <a:solidFill>
                <a:srgbClr val="3C5C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SQLite ORM using SQLAlchemy models (</a:t>
            </a:r>
            <a:r>
              <a:rPr b="1" i="1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User</a:t>
            </a: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i="1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Stock</a:t>
            </a: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Kafka Integration:</a:t>
            </a:r>
            <a:endParaRPr b="1" i="0" sz="1800" u="none" cap="none" strike="noStrike">
              <a:solidFill>
                <a:srgbClr val="3C5C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Broker set via env var → KAFKA_BROKER: kafka:9092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Implements producer-consumer flow for real-time stock updates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Security &amp; Connectivity:</a:t>
            </a:r>
            <a:endParaRPr b="1" i="0" sz="1800" u="none" cap="none" strike="noStrike">
              <a:solidFill>
                <a:srgbClr val="3C5C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Password hashing with werkzeug.security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CORS enabled for seamless frontend-backend communication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6"/>
          <p:cNvSpPr/>
          <p:nvPr/>
        </p:nvSpPr>
        <p:spPr>
          <a:xfrm flipH="1" rot="10800000">
            <a:off x="-781050" y="-665637"/>
            <a:ext cx="1539240" cy="1539240"/>
          </a:xfrm>
          <a:custGeom>
            <a:rect b="b" l="l" r="r" t="t"/>
            <a:pathLst>
              <a:path extrusionOk="0" h="9472246" w="9472246">
                <a:moveTo>
                  <a:pt x="4736123" y="1711569"/>
                </a:moveTo>
                <a:cubicBezTo>
                  <a:pt x="3065708" y="1711569"/>
                  <a:pt x="1711569" y="3065708"/>
                  <a:pt x="1711569" y="4736123"/>
                </a:cubicBezTo>
                <a:cubicBezTo>
                  <a:pt x="1711569" y="6406538"/>
                  <a:pt x="3065708" y="7760677"/>
                  <a:pt x="4736123" y="7760677"/>
                </a:cubicBezTo>
                <a:cubicBezTo>
                  <a:pt x="6406538" y="7760677"/>
                  <a:pt x="7760677" y="6406538"/>
                  <a:pt x="7760677" y="4736123"/>
                </a:cubicBezTo>
                <a:cubicBezTo>
                  <a:pt x="7760677" y="3065708"/>
                  <a:pt x="6406538" y="1711569"/>
                  <a:pt x="4736123" y="1711569"/>
                </a:cubicBezTo>
                <a:close/>
                <a:moveTo>
                  <a:pt x="4736123" y="0"/>
                </a:moveTo>
                <a:cubicBezTo>
                  <a:pt x="7351812" y="0"/>
                  <a:pt x="9472246" y="2120434"/>
                  <a:pt x="9472246" y="4736123"/>
                </a:cubicBezTo>
                <a:cubicBezTo>
                  <a:pt x="9472246" y="7351812"/>
                  <a:pt x="7351812" y="9472246"/>
                  <a:pt x="4736123" y="9472246"/>
                </a:cubicBezTo>
                <a:cubicBezTo>
                  <a:pt x="2120434" y="9472246"/>
                  <a:pt x="0" y="7351812"/>
                  <a:pt x="0" y="4736123"/>
                </a:cubicBezTo>
                <a:cubicBezTo>
                  <a:pt x="0" y="2120434"/>
                  <a:pt x="2120434" y="0"/>
                  <a:pt x="4736123" y="0"/>
                </a:cubicBezTo>
                <a:close/>
              </a:path>
            </a:pathLst>
          </a:custGeom>
          <a:solidFill>
            <a:srgbClr val="3C5CE8"/>
          </a:solidFill>
          <a:ln>
            <a:noFill/>
          </a:ln>
          <a:effectLst>
            <a:outerShdw blurRad="127000" rotWithShape="0" algn="ctr">
              <a:srgbClr val="222A3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283" name="Google Shape;283;p6"/>
          <p:cNvGrpSpPr/>
          <p:nvPr/>
        </p:nvGrpSpPr>
        <p:grpSpPr>
          <a:xfrm>
            <a:off x="9308838" y="-4257437"/>
            <a:ext cx="5978875" cy="5978875"/>
            <a:chOff x="8075085" y="-3038122"/>
            <a:chExt cx="8202600" cy="8202600"/>
          </a:xfrm>
        </p:grpSpPr>
        <p:sp>
          <p:nvSpPr>
            <p:cNvPr id="284" name="Google Shape;284;p6"/>
            <p:cNvSpPr/>
            <p:nvPr/>
          </p:nvSpPr>
          <p:spPr>
            <a:xfrm>
              <a:off x="8075085" y="-3038122"/>
              <a:ext cx="8202600" cy="8202600"/>
            </a:xfrm>
            <a:prstGeom prst="ellipse">
              <a:avLst/>
            </a:prstGeom>
            <a:solidFill>
              <a:srgbClr val="3C5CE8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85" name="Google Shape;285;p6"/>
            <p:cNvSpPr/>
            <p:nvPr/>
          </p:nvSpPr>
          <p:spPr>
            <a:xfrm rot="301618">
              <a:off x="9374132" y="-1567499"/>
              <a:ext cx="5134763" cy="5134763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86" name="Google Shape;286;p6"/>
            <p:cNvSpPr/>
            <p:nvPr/>
          </p:nvSpPr>
          <p:spPr>
            <a:xfrm>
              <a:off x="8835534" y="-2277673"/>
              <a:ext cx="6681600" cy="6681600"/>
            </a:xfrm>
            <a:prstGeom prst="ellipse">
              <a:avLst/>
            </a:pr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87" name="Google Shape;287;p6"/>
            <p:cNvSpPr/>
            <p:nvPr/>
          </p:nvSpPr>
          <p:spPr>
            <a:xfrm flipH="1">
              <a:off x="109784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88" name="Google Shape;288;p6"/>
            <p:cNvSpPr/>
            <p:nvPr/>
          </p:nvSpPr>
          <p:spPr>
            <a:xfrm flipH="1">
              <a:off x="108260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89" name="Google Shape;289;p6"/>
            <p:cNvSpPr/>
            <p:nvPr/>
          </p:nvSpPr>
          <p:spPr>
            <a:xfrm flipH="1">
              <a:off x="106736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90" name="Google Shape;290;p6"/>
            <p:cNvSpPr/>
            <p:nvPr/>
          </p:nvSpPr>
          <p:spPr>
            <a:xfrm flipH="1">
              <a:off x="105212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91" name="Google Shape;291;p6"/>
            <p:cNvSpPr/>
            <p:nvPr/>
          </p:nvSpPr>
          <p:spPr>
            <a:xfrm flipH="1">
              <a:off x="103688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92" name="Google Shape;292;p6"/>
            <p:cNvSpPr/>
            <p:nvPr/>
          </p:nvSpPr>
          <p:spPr>
            <a:xfrm flipH="1">
              <a:off x="102164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93" name="Google Shape;293;p6"/>
            <p:cNvSpPr/>
            <p:nvPr/>
          </p:nvSpPr>
          <p:spPr>
            <a:xfrm flipH="1">
              <a:off x="109784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94" name="Google Shape;294;p6"/>
            <p:cNvSpPr/>
            <p:nvPr/>
          </p:nvSpPr>
          <p:spPr>
            <a:xfrm flipH="1">
              <a:off x="108260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95" name="Google Shape;295;p6"/>
            <p:cNvSpPr/>
            <p:nvPr/>
          </p:nvSpPr>
          <p:spPr>
            <a:xfrm flipH="1">
              <a:off x="106736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96" name="Google Shape;296;p6"/>
            <p:cNvSpPr/>
            <p:nvPr/>
          </p:nvSpPr>
          <p:spPr>
            <a:xfrm flipH="1">
              <a:off x="105212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97" name="Google Shape;297;p6"/>
            <p:cNvSpPr/>
            <p:nvPr/>
          </p:nvSpPr>
          <p:spPr>
            <a:xfrm flipH="1">
              <a:off x="103688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98" name="Google Shape;298;p6"/>
            <p:cNvSpPr/>
            <p:nvPr/>
          </p:nvSpPr>
          <p:spPr>
            <a:xfrm flipH="1">
              <a:off x="102164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299" name="Google Shape;299;p6"/>
            <p:cNvSpPr/>
            <p:nvPr/>
          </p:nvSpPr>
          <p:spPr>
            <a:xfrm flipH="1">
              <a:off x="109784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00" name="Google Shape;300;p6"/>
            <p:cNvSpPr/>
            <p:nvPr/>
          </p:nvSpPr>
          <p:spPr>
            <a:xfrm flipH="1">
              <a:off x="108260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01" name="Google Shape;301;p6"/>
            <p:cNvSpPr/>
            <p:nvPr/>
          </p:nvSpPr>
          <p:spPr>
            <a:xfrm flipH="1">
              <a:off x="106736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02" name="Google Shape;302;p6"/>
            <p:cNvSpPr/>
            <p:nvPr/>
          </p:nvSpPr>
          <p:spPr>
            <a:xfrm flipH="1">
              <a:off x="105212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03" name="Google Shape;303;p6"/>
            <p:cNvSpPr/>
            <p:nvPr/>
          </p:nvSpPr>
          <p:spPr>
            <a:xfrm flipH="1">
              <a:off x="103688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04" name="Google Shape;304;p6"/>
            <p:cNvSpPr/>
            <p:nvPr/>
          </p:nvSpPr>
          <p:spPr>
            <a:xfrm flipH="1">
              <a:off x="102164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05" name="Google Shape;305;p6"/>
            <p:cNvSpPr/>
            <p:nvPr/>
          </p:nvSpPr>
          <p:spPr>
            <a:xfrm flipH="1">
              <a:off x="109784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06" name="Google Shape;306;p6"/>
            <p:cNvSpPr/>
            <p:nvPr/>
          </p:nvSpPr>
          <p:spPr>
            <a:xfrm flipH="1">
              <a:off x="108260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07" name="Google Shape;307;p6"/>
            <p:cNvSpPr/>
            <p:nvPr/>
          </p:nvSpPr>
          <p:spPr>
            <a:xfrm flipH="1">
              <a:off x="106736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08" name="Google Shape;308;p6"/>
            <p:cNvSpPr/>
            <p:nvPr/>
          </p:nvSpPr>
          <p:spPr>
            <a:xfrm flipH="1">
              <a:off x="105212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09" name="Google Shape;309;p6"/>
            <p:cNvSpPr/>
            <p:nvPr/>
          </p:nvSpPr>
          <p:spPr>
            <a:xfrm flipH="1">
              <a:off x="103688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10" name="Google Shape;310;p6"/>
            <p:cNvSpPr/>
            <p:nvPr/>
          </p:nvSpPr>
          <p:spPr>
            <a:xfrm flipH="1">
              <a:off x="102164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311" name="Google Shape;311;p6"/>
          <p:cNvSpPr txBox="1"/>
          <p:nvPr/>
        </p:nvSpPr>
        <p:spPr>
          <a:xfrm flipH="1">
            <a:off x="542375" y="365025"/>
            <a:ext cx="10259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Backend: Flask + SQLite + Kafka Integration</a:t>
            </a:r>
            <a:endParaRPr b="0" i="0" sz="32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12" name="Google Shape;312;p6"/>
          <p:cNvSpPr/>
          <p:nvPr/>
        </p:nvSpPr>
        <p:spPr>
          <a:xfrm>
            <a:off x="745900" y="991250"/>
            <a:ext cx="8328300" cy="73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7" name="Google Shape;317;p7"/>
          <p:cNvCxnSpPr/>
          <p:nvPr/>
        </p:nvCxnSpPr>
        <p:spPr>
          <a:xfrm>
            <a:off x="5651938" y="34164"/>
            <a:ext cx="888000" cy="0"/>
          </a:xfrm>
          <a:prstGeom prst="straightConnector1">
            <a:avLst/>
          </a:prstGeom>
          <a:noFill/>
          <a:ln cap="flat" cmpd="sng" w="76200">
            <a:solidFill>
              <a:srgbClr val="3C5CE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8" name="Google Shape;318;p7"/>
          <p:cNvSpPr txBox="1"/>
          <p:nvPr/>
        </p:nvSpPr>
        <p:spPr>
          <a:xfrm>
            <a:off x="758200" y="1280575"/>
            <a:ext cx="11298300" cy="52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Framework:</a:t>
            </a:r>
            <a:endParaRPr b="1" i="0" sz="1800" u="none" cap="none" strike="noStrike">
              <a:solidFill>
                <a:srgbClr val="3C5C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Built with React and React Router for dynamic navigation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Core Pages:</a:t>
            </a:r>
            <a:endParaRPr b="1" i="0" sz="1800" u="none" cap="none" strike="noStrike">
              <a:solidFill>
                <a:srgbClr val="3C5C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Login → Authenticates with Flask backend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Register → Adds new users to the database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Dashboard → Fetches /data from Flask and displays real-time stock info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Integration &amp; Design:</a:t>
            </a:r>
            <a:endParaRPr b="1" i="0" sz="1800" u="none" cap="none" strike="noStrike">
              <a:solidFill>
                <a:srgbClr val="3C5C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API communication via Axios / Fetch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Responsive, minimal, and intuitive UI layout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C5CE8"/>
                </a:solidFill>
                <a:latin typeface="Montserrat"/>
                <a:ea typeface="Montserrat"/>
                <a:cs typeface="Montserrat"/>
                <a:sym typeface="Montserrat"/>
              </a:rPr>
              <a:t>Focus:</a:t>
            </a:r>
            <a:endParaRPr b="1" i="0" sz="1800" u="none" cap="none" strike="noStrike">
              <a:solidFill>
                <a:srgbClr val="3C5CE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⚡ Simple, fast, and interactive interface with seamless backend connectivity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7"/>
          <p:cNvSpPr/>
          <p:nvPr/>
        </p:nvSpPr>
        <p:spPr>
          <a:xfrm flipH="1" rot="10800000">
            <a:off x="-781050" y="-665637"/>
            <a:ext cx="1539240" cy="1539240"/>
          </a:xfrm>
          <a:custGeom>
            <a:rect b="b" l="l" r="r" t="t"/>
            <a:pathLst>
              <a:path extrusionOk="0" h="9472246" w="9472246">
                <a:moveTo>
                  <a:pt x="4736123" y="1711569"/>
                </a:moveTo>
                <a:cubicBezTo>
                  <a:pt x="3065708" y="1711569"/>
                  <a:pt x="1711569" y="3065708"/>
                  <a:pt x="1711569" y="4736123"/>
                </a:cubicBezTo>
                <a:cubicBezTo>
                  <a:pt x="1711569" y="6406538"/>
                  <a:pt x="3065708" y="7760677"/>
                  <a:pt x="4736123" y="7760677"/>
                </a:cubicBezTo>
                <a:cubicBezTo>
                  <a:pt x="6406538" y="7760677"/>
                  <a:pt x="7760677" y="6406538"/>
                  <a:pt x="7760677" y="4736123"/>
                </a:cubicBezTo>
                <a:cubicBezTo>
                  <a:pt x="7760677" y="3065708"/>
                  <a:pt x="6406538" y="1711569"/>
                  <a:pt x="4736123" y="1711569"/>
                </a:cubicBezTo>
                <a:close/>
                <a:moveTo>
                  <a:pt x="4736123" y="0"/>
                </a:moveTo>
                <a:cubicBezTo>
                  <a:pt x="7351812" y="0"/>
                  <a:pt x="9472246" y="2120434"/>
                  <a:pt x="9472246" y="4736123"/>
                </a:cubicBezTo>
                <a:cubicBezTo>
                  <a:pt x="9472246" y="7351812"/>
                  <a:pt x="7351812" y="9472246"/>
                  <a:pt x="4736123" y="9472246"/>
                </a:cubicBezTo>
                <a:cubicBezTo>
                  <a:pt x="2120434" y="9472246"/>
                  <a:pt x="0" y="7351812"/>
                  <a:pt x="0" y="4736123"/>
                </a:cubicBezTo>
                <a:cubicBezTo>
                  <a:pt x="0" y="2120434"/>
                  <a:pt x="2120434" y="0"/>
                  <a:pt x="4736123" y="0"/>
                </a:cubicBezTo>
                <a:close/>
              </a:path>
            </a:pathLst>
          </a:custGeom>
          <a:solidFill>
            <a:srgbClr val="3C5CE8"/>
          </a:solidFill>
          <a:ln>
            <a:noFill/>
          </a:ln>
          <a:effectLst>
            <a:outerShdw blurRad="127000" rotWithShape="0" algn="ctr">
              <a:srgbClr val="222A3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320" name="Google Shape;320;p7"/>
          <p:cNvGrpSpPr/>
          <p:nvPr/>
        </p:nvGrpSpPr>
        <p:grpSpPr>
          <a:xfrm>
            <a:off x="9308838" y="-4257437"/>
            <a:ext cx="5978875" cy="5978875"/>
            <a:chOff x="8075085" y="-3038122"/>
            <a:chExt cx="8202600" cy="8202600"/>
          </a:xfrm>
        </p:grpSpPr>
        <p:sp>
          <p:nvSpPr>
            <p:cNvPr id="321" name="Google Shape;321;p7"/>
            <p:cNvSpPr/>
            <p:nvPr/>
          </p:nvSpPr>
          <p:spPr>
            <a:xfrm>
              <a:off x="8075085" y="-3038122"/>
              <a:ext cx="8202600" cy="8202600"/>
            </a:xfrm>
            <a:prstGeom prst="ellipse">
              <a:avLst/>
            </a:prstGeom>
            <a:solidFill>
              <a:srgbClr val="3C5CE8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2" name="Google Shape;322;p7"/>
            <p:cNvSpPr/>
            <p:nvPr/>
          </p:nvSpPr>
          <p:spPr>
            <a:xfrm rot="301618">
              <a:off x="9374132" y="-1567499"/>
              <a:ext cx="5134763" cy="5134763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8835534" y="-2277673"/>
              <a:ext cx="6681600" cy="6681600"/>
            </a:xfrm>
            <a:prstGeom prst="ellipse">
              <a:avLst/>
            </a:pr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4" name="Google Shape;324;p7"/>
            <p:cNvSpPr/>
            <p:nvPr/>
          </p:nvSpPr>
          <p:spPr>
            <a:xfrm flipH="1">
              <a:off x="109784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5" name="Google Shape;325;p7"/>
            <p:cNvSpPr/>
            <p:nvPr/>
          </p:nvSpPr>
          <p:spPr>
            <a:xfrm flipH="1">
              <a:off x="108260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6" name="Google Shape;326;p7"/>
            <p:cNvSpPr/>
            <p:nvPr/>
          </p:nvSpPr>
          <p:spPr>
            <a:xfrm flipH="1">
              <a:off x="106736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7" name="Google Shape;327;p7"/>
            <p:cNvSpPr/>
            <p:nvPr/>
          </p:nvSpPr>
          <p:spPr>
            <a:xfrm flipH="1">
              <a:off x="105212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8" name="Google Shape;328;p7"/>
            <p:cNvSpPr/>
            <p:nvPr/>
          </p:nvSpPr>
          <p:spPr>
            <a:xfrm flipH="1">
              <a:off x="103688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29" name="Google Shape;329;p7"/>
            <p:cNvSpPr/>
            <p:nvPr/>
          </p:nvSpPr>
          <p:spPr>
            <a:xfrm flipH="1">
              <a:off x="102164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0" name="Google Shape;330;p7"/>
            <p:cNvSpPr/>
            <p:nvPr/>
          </p:nvSpPr>
          <p:spPr>
            <a:xfrm flipH="1">
              <a:off x="109784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1" name="Google Shape;331;p7"/>
            <p:cNvSpPr/>
            <p:nvPr/>
          </p:nvSpPr>
          <p:spPr>
            <a:xfrm flipH="1">
              <a:off x="108260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2" name="Google Shape;332;p7"/>
            <p:cNvSpPr/>
            <p:nvPr/>
          </p:nvSpPr>
          <p:spPr>
            <a:xfrm flipH="1">
              <a:off x="106736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3" name="Google Shape;333;p7"/>
            <p:cNvSpPr/>
            <p:nvPr/>
          </p:nvSpPr>
          <p:spPr>
            <a:xfrm flipH="1">
              <a:off x="105212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4" name="Google Shape;334;p7"/>
            <p:cNvSpPr/>
            <p:nvPr/>
          </p:nvSpPr>
          <p:spPr>
            <a:xfrm flipH="1">
              <a:off x="103688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5" name="Google Shape;335;p7"/>
            <p:cNvSpPr/>
            <p:nvPr/>
          </p:nvSpPr>
          <p:spPr>
            <a:xfrm flipH="1">
              <a:off x="102164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6" name="Google Shape;336;p7"/>
            <p:cNvSpPr/>
            <p:nvPr/>
          </p:nvSpPr>
          <p:spPr>
            <a:xfrm flipH="1">
              <a:off x="109784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7" name="Google Shape;337;p7"/>
            <p:cNvSpPr/>
            <p:nvPr/>
          </p:nvSpPr>
          <p:spPr>
            <a:xfrm flipH="1">
              <a:off x="108260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8" name="Google Shape;338;p7"/>
            <p:cNvSpPr/>
            <p:nvPr/>
          </p:nvSpPr>
          <p:spPr>
            <a:xfrm flipH="1">
              <a:off x="106736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39" name="Google Shape;339;p7"/>
            <p:cNvSpPr/>
            <p:nvPr/>
          </p:nvSpPr>
          <p:spPr>
            <a:xfrm flipH="1">
              <a:off x="105212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40" name="Google Shape;340;p7"/>
            <p:cNvSpPr/>
            <p:nvPr/>
          </p:nvSpPr>
          <p:spPr>
            <a:xfrm flipH="1">
              <a:off x="103688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41" name="Google Shape;341;p7"/>
            <p:cNvSpPr/>
            <p:nvPr/>
          </p:nvSpPr>
          <p:spPr>
            <a:xfrm flipH="1">
              <a:off x="102164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42" name="Google Shape;342;p7"/>
            <p:cNvSpPr/>
            <p:nvPr/>
          </p:nvSpPr>
          <p:spPr>
            <a:xfrm flipH="1">
              <a:off x="109784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43" name="Google Shape;343;p7"/>
            <p:cNvSpPr/>
            <p:nvPr/>
          </p:nvSpPr>
          <p:spPr>
            <a:xfrm flipH="1">
              <a:off x="108260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44" name="Google Shape;344;p7"/>
            <p:cNvSpPr/>
            <p:nvPr/>
          </p:nvSpPr>
          <p:spPr>
            <a:xfrm flipH="1">
              <a:off x="106736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45" name="Google Shape;345;p7"/>
            <p:cNvSpPr/>
            <p:nvPr/>
          </p:nvSpPr>
          <p:spPr>
            <a:xfrm flipH="1">
              <a:off x="105212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46" name="Google Shape;346;p7"/>
            <p:cNvSpPr/>
            <p:nvPr/>
          </p:nvSpPr>
          <p:spPr>
            <a:xfrm flipH="1">
              <a:off x="103688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47" name="Google Shape;347;p7"/>
            <p:cNvSpPr/>
            <p:nvPr/>
          </p:nvSpPr>
          <p:spPr>
            <a:xfrm flipH="1">
              <a:off x="102164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348" name="Google Shape;348;p7"/>
          <p:cNvSpPr txBox="1"/>
          <p:nvPr/>
        </p:nvSpPr>
        <p:spPr>
          <a:xfrm flipH="1">
            <a:off x="542375" y="365025"/>
            <a:ext cx="10259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Frontend: React + REST Integration</a:t>
            </a:r>
            <a:endParaRPr b="0" i="0" sz="32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49" name="Google Shape;349;p7"/>
          <p:cNvSpPr/>
          <p:nvPr/>
        </p:nvSpPr>
        <p:spPr>
          <a:xfrm>
            <a:off x="745900" y="991250"/>
            <a:ext cx="8328300" cy="73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8"/>
          <p:cNvGrpSpPr/>
          <p:nvPr/>
        </p:nvGrpSpPr>
        <p:grpSpPr>
          <a:xfrm>
            <a:off x="-781050" y="-665637"/>
            <a:ext cx="9182951" cy="1615362"/>
            <a:chOff x="-781050" y="-665637"/>
            <a:chExt cx="9182951" cy="1615362"/>
          </a:xfrm>
        </p:grpSpPr>
        <p:sp>
          <p:nvSpPr>
            <p:cNvPr id="355" name="Google Shape;355;p8"/>
            <p:cNvSpPr/>
            <p:nvPr/>
          </p:nvSpPr>
          <p:spPr>
            <a:xfrm flipH="1" rot="10800000">
              <a:off x="-781050" y="-665637"/>
              <a:ext cx="1539240" cy="153924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  <a:effectLst>
              <a:outerShdw blurRad="127000" rotWithShape="0" algn="ctr">
                <a:srgbClr val="222A3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56" name="Google Shape;356;p8"/>
            <p:cNvSpPr txBox="1"/>
            <p:nvPr/>
          </p:nvSpPr>
          <p:spPr>
            <a:xfrm flipH="1">
              <a:off x="803501" y="365025"/>
              <a:ext cx="75984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Dockerization and Deployment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p8"/>
          <p:cNvSpPr/>
          <p:nvPr/>
        </p:nvSpPr>
        <p:spPr>
          <a:xfrm>
            <a:off x="2936925" y="1081275"/>
            <a:ext cx="6230358" cy="762858"/>
          </a:xfrm>
          <a:prstGeom prst="flowChartTerminator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Docker Compose creates 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Containerized services</a:t>
            </a:r>
            <a:endParaRPr b="1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/>
          <p:nvPr/>
        </p:nvSpPr>
        <p:spPr>
          <a:xfrm>
            <a:off x="2687837" y="2666150"/>
            <a:ext cx="2009232" cy="762858"/>
          </a:xfrm>
          <a:prstGeom prst="flowChartTerminator">
            <a:avLst/>
          </a:prstGeom>
          <a:solidFill>
            <a:srgbClr val="C27B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React App Service</a:t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(Port : 5173)</a:t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8"/>
          <p:cNvSpPr/>
          <p:nvPr/>
        </p:nvSpPr>
        <p:spPr>
          <a:xfrm>
            <a:off x="9928175" y="1712602"/>
            <a:ext cx="1835784" cy="762858"/>
          </a:xfrm>
          <a:prstGeom prst="flowChartTerminator">
            <a:avLst/>
          </a:prstGeom>
          <a:solidFill>
            <a:srgbClr val="E0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Kafka</a:t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(Port :9092)</a:t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8"/>
          <p:cNvSpPr/>
          <p:nvPr/>
        </p:nvSpPr>
        <p:spPr>
          <a:xfrm>
            <a:off x="282150" y="2007775"/>
            <a:ext cx="2101140" cy="762858"/>
          </a:xfrm>
          <a:prstGeom prst="flowChartTerminator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Flask App Service </a:t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(Port : 5000)</a:t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8"/>
          <p:cNvSpPr/>
          <p:nvPr/>
        </p:nvSpPr>
        <p:spPr>
          <a:xfrm>
            <a:off x="803275" y="3499000"/>
            <a:ext cx="4946700" cy="2969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`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 txBox="1"/>
          <p:nvPr/>
        </p:nvSpPr>
        <p:spPr>
          <a:xfrm>
            <a:off x="803275" y="3713950"/>
            <a:ext cx="4597800" cy="25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Compose Configuration:</a:t>
            </a:r>
            <a:endParaRPr b="1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●"/>
            </a:pPr>
            <a:r>
              <a:rPr b="1" i="0" lang="en-US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Each service runs in its own container.</a:t>
            </a:r>
            <a:endParaRPr b="1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●"/>
            </a:pPr>
            <a:r>
              <a:rPr b="1" i="0" lang="en-US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docker-compose.yml defines dependencies &amp; startup order.</a:t>
            </a:r>
            <a:endParaRPr b="1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Montserrat"/>
              <a:buChar char="●"/>
            </a:pPr>
            <a:r>
              <a:rPr b="1" i="0" lang="en-US" sz="17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depends_on ensures sequence: Zookeeper → Kafka → Backend → Frontend</a:t>
            </a:r>
            <a:endParaRPr b="1" i="0" sz="1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p8"/>
          <p:cNvSpPr/>
          <p:nvPr/>
        </p:nvSpPr>
        <p:spPr>
          <a:xfrm>
            <a:off x="7149725" y="3499000"/>
            <a:ext cx="4946700" cy="29697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 Benefits: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🔁 Reproducible development environment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⚙️ Simplified, one-command deployment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"/>
              <a:buChar char="●"/>
            </a:pPr>
            <a:r>
              <a:rPr b="1" i="0" lang="en-US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🧪 Isolated service testing for easier debugging</a:t>
            </a:r>
            <a:endParaRPr b="1" i="0" sz="18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p8"/>
          <p:cNvSpPr/>
          <p:nvPr/>
        </p:nvSpPr>
        <p:spPr>
          <a:xfrm>
            <a:off x="745900" y="991250"/>
            <a:ext cx="8328300" cy="73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8"/>
          <p:cNvCxnSpPr>
            <a:stCxn id="357" idx="2"/>
            <a:endCxn id="360" idx="0"/>
          </p:cNvCxnSpPr>
          <p:nvPr/>
        </p:nvCxnSpPr>
        <p:spPr>
          <a:xfrm flipH="1">
            <a:off x="1332804" y="1844133"/>
            <a:ext cx="4719300" cy="163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8"/>
          <p:cNvSpPr/>
          <p:nvPr/>
        </p:nvSpPr>
        <p:spPr>
          <a:xfrm>
            <a:off x="5526162" y="2666150"/>
            <a:ext cx="2009232" cy="762858"/>
          </a:xfrm>
          <a:prstGeom prst="flowChartTerminator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Producer</a:t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p8"/>
          <p:cNvSpPr/>
          <p:nvPr/>
        </p:nvSpPr>
        <p:spPr>
          <a:xfrm>
            <a:off x="8141337" y="2666150"/>
            <a:ext cx="2009232" cy="762858"/>
          </a:xfrm>
          <a:prstGeom prst="flowChartTerminator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Zookeeper</a:t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(Port : </a:t>
            </a:r>
            <a:r>
              <a:rPr b="1"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2181</a:t>
            </a:r>
            <a:r>
              <a:rPr b="1" i="0" lang="en-US" sz="1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b="1" i="0" sz="18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68" name="Google Shape;368;p8"/>
          <p:cNvCxnSpPr/>
          <p:nvPr/>
        </p:nvCxnSpPr>
        <p:spPr>
          <a:xfrm flipH="1">
            <a:off x="3692904" y="1844133"/>
            <a:ext cx="2359200" cy="822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8"/>
          <p:cNvCxnSpPr>
            <a:stCxn id="357" idx="2"/>
            <a:endCxn id="366" idx="0"/>
          </p:cNvCxnSpPr>
          <p:nvPr/>
        </p:nvCxnSpPr>
        <p:spPr>
          <a:xfrm>
            <a:off x="6052104" y="1844133"/>
            <a:ext cx="478800" cy="82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0" name="Google Shape;370;p8"/>
          <p:cNvCxnSpPr>
            <a:stCxn id="357" idx="2"/>
            <a:endCxn id="367" idx="0"/>
          </p:cNvCxnSpPr>
          <p:nvPr/>
        </p:nvCxnSpPr>
        <p:spPr>
          <a:xfrm>
            <a:off x="6052104" y="1844133"/>
            <a:ext cx="3093900" cy="822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8"/>
          <p:cNvCxnSpPr>
            <a:stCxn id="357" idx="2"/>
            <a:endCxn id="359" idx="1"/>
          </p:cNvCxnSpPr>
          <p:nvPr/>
        </p:nvCxnSpPr>
        <p:spPr>
          <a:xfrm>
            <a:off x="6052104" y="1844133"/>
            <a:ext cx="3876000" cy="249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100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9"/>
          <p:cNvSpPr/>
          <p:nvPr/>
        </p:nvSpPr>
        <p:spPr>
          <a:xfrm>
            <a:off x="2893313" y="1741170"/>
            <a:ext cx="1415417" cy="1423675"/>
          </a:xfrm>
          <a:custGeom>
            <a:rect b="b" l="l" r="r" t="t"/>
            <a:pathLst>
              <a:path extrusionOk="0" h="3912" w="3906">
                <a:moveTo>
                  <a:pt x="946" y="0"/>
                </a:moveTo>
                <a:cubicBezTo>
                  <a:pt x="2215" y="582"/>
                  <a:pt x="3286" y="1605"/>
                  <a:pt x="3906" y="2964"/>
                </a:cubicBezTo>
                <a:lnTo>
                  <a:pt x="1613" y="3912"/>
                </a:lnTo>
                <a:cubicBezTo>
                  <a:pt x="1257" y="3181"/>
                  <a:pt x="681" y="2620"/>
                  <a:pt x="0" y="2278"/>
                </a:cubicBezTo>
                <a:lnTo>
                  <a:pt x="946" y="0"/>
                </a:lnTo>
                <a:close/>
              </a:path>
            </a:pathLst>
          </a:custGeom>
          <a:solidFill>
            <a:srgbClr val="6AA84F"/>
          </a:solidFill>
          <a:ln>
            <a:noFill/>
          </a:ln>
          <a:effectLst>
            <a:outerShdw blurRad="127000" rotWithShape="0" algn="ctr">
              <a:srgbClr val="222A3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377" name="Google Shape;377;p9"/>
          <p:cNvCxnSpPr/>
          <p:nvPr/>
        </p:nvCxnSpPr>
        <p:spPr>
          <a:xfrm>
            <a:off x="4364608" y="2031365"/>
            <a:ext cx="1687800" cy="0"/>
          </a:xfrm>
          <a:prstGeom prst="straightConnector1">
            <a:avLst/>
          </a:prstGeom>
          <a:noFill/>
          <a:ln cap="flat" cmpd="sng" w="9525">
            <a:solidFill>
              <a:srgbClr val="3C5CE8"/>
            </a:solidFill>
            <a:prstDash val="dash"/>
            <a:miter lim="800000"/>
            <a:headEnd len="med" w="med" type="oval"/>
            <a:tailEnd len="med" w="med" type="triangle"/>
          </a:ln>
        </p:spPr>
      </p:cxnSp>
      <p:sp>
        <p:nvSpPr>
          <p:cNvPr id="378" name="Google Shape;378;p9"/>
          <p:cNvSpPr txBox="1"/>
          <p:nvPr/>
        </p:nvSpPr>
        <p:spPr>
          <a:xfrm>
            <a:off x="3174618" y="2225040"/>
            <a:ext cx="7080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5CE8"/>
              </a:buClr>
              <a:buSzPts val="2400"/>
              <a:buFont typeface="Microsoft Yahei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01</a:t>
            </a: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9"/>
          <p:cNvSpPr txBox="1"/>
          <p:nvPr/>
        </p:nvSpPr>
        <p:spPr>
          <a:xfrm>
            <a:off x="6101233" y="1525677"/>
            <a:ext cx="3569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775" spcFirstLastPara="1" rIns="2437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Impact</a:t>
            </a:r>
            <a:endParaRPr b="0" i="0" sz="24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80" name="Google Shape;380;p9"/>
          <p:cNvSpPr txBox="1"/>
          <p:nvPr/>
        </p:nvSpPr>
        <p:spPr>
          <a:xfrm>
            <a:off x="6101225" y="1947000"/>
            <a:ext cx="5399400" cy="11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775" spcFirstLastPara="1" rIns="243775" wrap="square" tIns="121875">
            <a:noAutofit/>
          </a:bodyPr>
          <a:lstStyle/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Demonstrated end-to-end understanding of modern web architecture.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Hands-on with microservices, containerization, and data streaming.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1170558" y="2573655"/>
            <a:ext cx="2311500" cy="23115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27000" rotWithShape="0" algn="ctr">
              <a:srgbClr val="222A3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82" name="Google Shape;382;p9"/>
          <p:cNvSpPr txBox="1"/>
          <p:nvPr/>
        </p:nvSpPr>
        <p:spPr>
          <a:xfrm>
            <a:off x="869717" y="3335938"/>
            <a:ext cx="291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775" spcFirstLastPara="1" rIns="243775" wrap="square" tIns="121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3537838" y="2969260"/>
            <a:ext cx="1021714" cy="1523361"/>
          </a:xfrm>
          <a:custGeom>
            <a:rect b="b" l="l" r="r" t="t"/>
            <a:pathLst>
              <a:path extrusionOk="0" h="4189" w="2814">
                <a:moveTo>
                  <a:pt x="2294" y="0"/>
                </a:moveTo>
                <a:cubicBezTo>
                  <a:pt x="2814" y="1401"/>
                  <a:pt x="2778" y="2881"/>
                  <a:pt x="2290" y="4189"/>
                </a:cubicBezTo>
                <a:lnTo>
                  <a:pt x="12" y="3244"/>
                </a:lnTo>
                <a:cubicBezTo>
                  <a:pt x="253" y="2522"/>
                  <a:pt x="265" y="1717"/>
                  <a:pt x="0" y="948"/>
                </a:cubicBezTo>
                <a:lnTo>
                  <a:pt x="229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127000" rotWithShape="0" algn="ctr">
              <a:srgbClr val="222A3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384" name="Google Shape;384;p9"/>
          <p:cNvCxnSpPr/>
          <p:nvPr/>
        </p:nvCxnSpPr>
        <p:spPr>
          <a:xfrm>
            <a:off x="5167248" y="3730625"/>
            <a:ext cx="1024200" cy="4500"/>
          </a:xfrm>
          <a:prstGeom prst="straightConnector1">
            <a:avLst/>
          </a:prstGeom>
          <a:noFill/>
          <a:ln cap="flat" cmpd="sng" w="9525">
            <a:solidFill>
              <a:srgbClr val="3C5CE8"/>
            </a:solidFill>
            <a:prstDash val="dash"/>
            <a:miter lim="800000"/>
            <a:headEnd len="med" w="med" type="oval"/>
            <a:tailEnd len="med" w="med" type="triangle"/>
          </a:ln>
        </p:spPr>
      </p:cxnSp>
      <p:sp>
        <p:nvSpPr>
          <p:cNvPr id="385" name="Google Shape;385;p9"/>
          <p:cNvSpPr txBox="1"/>
          <p:nvPr/>
        </p:nvSpPr>
        <p:spPr>
          <a:xfrm>
            <a:off x="3695318" y="3451860"/>
            <a:ext cx="7080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icrosoft Yahe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02</a:t>
            </a:r>
            <a:endParaRPr b="0" i="1" sz="24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386" name="Google Shape;386;p9"/>
          <p:cNvGrpSpPr/>
          <p:nvPr/>
        </p:nvGrpSpPr>
        <p:grpSpPr>
          <a:xfrm>
            <a:off x="6130550" y="5012350"/>
            <a:ext cx="5924700" cy="1465900"/>
            <a:chOff x="7091841" y="1754289"/>
            <a:chExt cx="5924700" cy="1465900"/>
          </a:xfrm>
        </p:grpSpPr>
        <p:sp>
          <p:nvSpPr>
            <p:cNvPr id="387" name="Google Shape;387;p9"/>
            <p:cNvSpPr txBox="1"/>
            <p:nvPr/>
          </p:nvSpPr>
          <p:spPr>
            <a:xfrm>
              <a:off x="7091844" y="1754289"/>
              <a:ext cx="51057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875" lIns="243775" spcFirstLastPara="1" rIns="243775" wrap="square" tIns="1218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Future Enhancements</a:t>
              </a:r>
              <a:endParaRPr b="0" i="0" sz="24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388" name="Google Shape;388;p9"/>
            <p:cNvSpPr txBox="1"/>
            <p:nvPr/>
          </p:nvSpPr>
          <p:spPr>
            <a:xfrm>
              <a:off x="7091841" y="2251789"/>
              <a:ext cx="5924700" cy="96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875" lIns="243775" spcFirstLastPara="1" rIns="243775" wrap="square" tIns="121875">
              <a:noAutofit/>
            </a:bodyPr>
            <a:lstStyle/>
            <a:p>
              <a:pPr indent="-3238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Montserrat"/>
                <a:buChar char="●"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Deploy on AWS/GCP using container registries</a:t>
              </a:r>
              <a:endParaRPr b="1" i="0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238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Montserrat"/>
                <a:buChar char="●"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Implement Kafka producer for live stock updates</a:t>
              </a:r>
              <a:endParaRPr b="1" i="0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2385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Montserrat"/>
                <a:buChar char="●"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Upgrade SQLite database </a:t>
              </a:r>
              <a:endParaRPr b="1" i="0" sz="15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389" name="Google Shape;389;p9"/>
          <p:cNvSpPr/>
          <p:nvPr/>
        </p:nvSpPr>
        <p:spPr>
          <a:xfrm>
            <a:off x="2893313" y="4296410"/>
            <a:ext cx="1413512" cy="1419856"/>
          </a:xfrm>
          <a:custGeom>
            <a:rect b="b" l="l" r="r" t="t"/>
            <a:pathLst>
              <a:path extrusionOk="0" h="3904" w="3898">
                <a:moveTo>
                  <a:pt x="3898" y="944"/>
                </a:moveTo>
                <a:cubicBezTo>
                  <a:pt x="3316" y="2213"/>
                  <a:pt x="2294" y="3284"/>
                  <a:pt x="934" y="3904"/>
                </a:cubicBezTo>
                <a:lnTo>
                  <a:pt x="0" y="1642"/>
                </a:lnTo>
                <a:cubicBezTo>
                  <a:pt x="734" y="1284"/>
                  <a:pt x="1292" y="696"/>
                  <a:pt x="1624" y="0"/>
                </a:cubicBezTo>
                <a:lnTo>
                  <a:pt x="3898" y="944"/>
                </a:lnTo>
                <a:close/>
              </a:path>
            </a:pathLst>
          </a:custGeom>
          <a:solidFill>
            <a:srgbClr val="A64D79"/>
          </a:solidFill>
          <a:ln>
            <a:noFill/>
          </a:ln>
          <a:effectLst>
            <a:outerShdw blurRad="127000" rotWithShape="0" algn="ctr">
              <a:srgbClr val="222A3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cxnSp>
        <p:nvCxnSpPr>
          <p:cNvPr id="390" name="Google Shape;390;p9"/>
          <p:cNvCxnSpPr/>
          <p:nvPr/>
        </p:nvCxnSpPr>
        <p:spPr>
          <a:xfrm>
            <a:off x="4559543" y="5382840"/>
            <a:ext cx="1671300" cy="0"/>
          </a:xfrm>
          <a:prstGeom prst="straightConnector1">
            <a:avLst/>
          </a:prstGeom>
          <a:noFill/>
          <a:ln cap="flat" cmpd="sng" w="9525">
            <a:solidFill>
              <a:srgbClr val="3C5CE8"/>
            </a:solidFill>
            <a:prstDash val="dash"/>
            <a:miter lim="800000"/>
            <a:headEnd len="med" w="med" type="oval"/>
            <a:tailEnd len="med" w="med" type="triangle"/>
          </a:ln>
        </p:spPr>
      </p:cxnSp>
      <p:sp>
        <p:nvSpPr>
          <p:cNvPr id="391" name="Google Shape;391;p9"/>
          <p:cNvSpPr txBox="1"/>
          <p:nvPr/>
        </p:nvSpPr>
        <p:spPr>
          <a:xfrm>
            <a:off x="3174618" y="4665980"/>
            <a:ext cx="7080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5CE8"/>
              </a:buClr>
              <a:buSzPts val="2400"/>
              <a:buFont typeface="Microsoft Yahei"/>
              <a:buNone/>
            </a:pPr>
            <a:r>
              <a:rPr b="0" i="1" lang="en-US" sz="24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03</a:t>
            </a:r>
            <a:endParaRPr b="0" i="1" sz="24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92" name="Google Shape;392;p9"/>
          <p:cNvSpPr txBox="1"/>
          <p:nvPr/>
        </p:nvSpPr>
        <p:spPr>
          <a:xfrm>
            <a:off x="6130550" y="3129975"/>
            <a:ext cx="350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243775" spcFirstLastPara="1" rIns="243775" wrap="square" tIns="121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Learning</a:t>
            </a:r>
            <a:endParaRPr b="0" i="0" sz="2400" u="none" cap="none" strike="noStrike">
              <a:solidFill>
                <a:srgbClr val="3C5CE8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93" name="Google Shape;393;p9"/>
          <p:cNvSpPr txBox="1"/>
          <p:nvPr/>
        </p:nvSpPr>
        <p:spPr>
          <a:xfrm>
            <a:off x="6052400" y="3551300"/>
            <a:ext cx="5627700" cy="14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243775" spcFirstLastPara="1" rIns="243775" wrap="square" tIns="121875">
            <a:noAutofit/>
          </a:bodyPr>
          <a:lstStyle/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Integrated multiple technologies across the stack.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Debugged container networking &amp; service dependencies.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b="1" i="0" lang="en-US" sz="15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Gained DevOps exposure through Docker Compose.</a:t>
            </a:r>
            <a:endParaRPr b="1" i="0" sz="1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9"/>
          <p:cNvSpPr/>
          <p:nvPr/>
        </p:nvSpPr>
        <p:spPr>
          <a:xfrm flipH="1" rot="10800000">
            <a:off x="-781050" y="-665637"/>
            <a:ext cx="1539240" cy="1539240"/>
          </a:xfrm>
          <a:custGeom>
            <a:rect b="b" l="l" r="r" t="t"/>
            <a:pathLst>
              <a:path extrusionOk="0" h="9472246" w="9472246">
                <a:moveTo>
                  <a:pt x="4736123" y="1711569"/>
                </a:moveTo>
                <a:cubicBezTo>
                  <a:pt x="3065708" y="1711569"/>
                  <a:pt x="1711569" y="3065708"/>
                  <a:pt x="1711569" y="4736123"/>
                </a:cubicBezTo>
                <a:cubicBezTo>
                  <a:pt x="1711569" y="6406538"/>
                  <a:pt x="3065708" y="7760677"/>
                  <a:pt x="4736123" y="7760677"/>
                </a:cubicBezTo>
                <a:cubicBezTo>
                  <a:pt x="6406538" y="7760677"/>
                  <a:pt x="7760677" y="6406538"/>
                  <a:pt x="7760677" y="4736123"/>
                </a:cubicBezTo>
                <a:cubicBezTo>
                  <a:pt x="7760677" y="3065708"/>
                  <a:pt x="6406538" y="1711569"/>
                  <a:pt x="4736123" y="1711569"/>
                </a:cubicBezTo>
                <a:close/>
                <a:moveTo>
                  <a:pt x="4736123" y="0"/>
                </a:moveTo>
                <a:cubicBezTo>
                  <a:pt x="7351812" y="0"/>
                  <a:pt x="9472246" y="2120434"/>
                  <a:pt x="9472246" y="4736123"/>
                </a:cubicBezTo>
                <a:cubicBezTo>
                  <a:pt x="9472246" y="7351812"/>
                  <a:pt x="7351812" y="9472246"/>
                  <a:pt x="4736123" y="9472246"/>
                </a:cubicBezTo>
                <a:cubicBezTo>
                  <a:pt x="2120434" y="9472246"/>
                  <a:pt x="0" y="7351812"/>
                  <a:pt x="0" y="4736123"/>
                </a:cubicBezTo>
                <a:cubicBezTo>
                  <a:pt x="0" y="2120434"/>
                  <a:pt x="2120434" y="0"/>
                  <a:pt x="4736123" y="0"/>
                </a:cubicBezTo>
                <a:close/>
              </a:path>
            </a:pathLst>
          </a:custGeom>
          <a:solidFill>
            <a:srgbClr val="3C5CE8"/>
          </a:solidFill>
          <a:ln>
            <a:noFill/>
          </a:ln>
          <a:effectLst>
            <a:outerShdw blurRad="127000" rotWithShape="0" algn="ctr">
              <a:srgbClr val="222A35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sp>
        <p:nvSpPr>
          <p:cNvPr id="395" name="Google Shape;395;p9"/>
          <p:cNvSpPr txBox="1"/>
          <p:nvPr/>
        </p:nvSpPr>
        <p:spPr>
          <a:xfrm flipH="1">
            <a:off x="583950" y="669825"/>
            <a:ext cx="71187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Impact, Learnings &amp; Future Scope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/>
          <p:nvPr/>
        </p:nvSpPr>
        <p:spPr>
          <a:xfrm>
            <a:off x="669700" y="1296050"/>
            <a:ext cx="5280300" cy="738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D wallpaper: Increasing Graph Indicating Progress Report And ..." id="397" name="Google Shape;3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550" y="2994064"/>
            <a:ext cx="1413501" cy="1284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0"/>
          <p:cNvSpPr/>
          <p:nvPr/>
        </p:nvSpPr>
        <p:spPr>
          <a:xfrm>
            <a:off x="5113797" y="-2445963"/>
            <a:ext cx="8704200" cy="8704200"/>
          </a:xfrm>
          <a:prstGeom prst="ellipse">
            <a:avLst/>
          </a:prstGeom>
          <a:noFill/>
          <a:ln cap="flat" cmpd="sng" w="12700">
            <a:solidFill>
              <a:srgbClr val="3C5CE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403" name="Google Shape;403;p10"/>
          <p:cNvGrpSpPr/>
          <p:nvPr/>
        </p:nvGrpSpPr>
        <p:grpSpPr>
          <a:xfrm flipH="1">
            <a:off x="308951" y="3012397"/>
            <a:ext cx="5559006" cy="833100"/>
            <a:chOff x="6411993" y="1684020"/>
            <a:chExt cx="5559006" cy="833100"/>
          </a:xfrm>
        </p:grpSpPr>
        <p:sp>
          <p:nvSpPr>
            <p:cNvPr id="404" name="Google Shape;404;p10"/>
            <p:cNvSpPr/>
            <p:nvPr/>
          </p:nvSpPr>
          <p:spPr>
            <a:xfrm>
              <a:off x="6411993" y="1684020"/>
              <a:ext cx="833100" cy="833100"/>
            </a:xfrm>
            <a:prstGeom prst="ellipse">
              <a:avLst/>
            </a:prstGeom>
            <a:solidFill>
              <a:schemeClr val="lt1"/>
            </a:solidFill>
            <a:ln cap="flat" cmpd="sng" w="28575">
              <a:solidFill>
                <a:srgbClr val="3C5CE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127000" rotWithShape="0" algn="ctr">
                <a:srgbClr val="3C5CE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05" name="Google Shape;405;p10"/>
            <p:cNvSpPr/>
            <p:nvPr/>
          </p:nvSpPr>
          <p:spPr>
            <a:xfrm>
              <a:off x="7683699" y="1726173"/>
              <a:ext cx="42873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Demonstration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10"/>
          <p:cNvGrpSpPr/>
          <p:nvPr/>
        </p:nvGrpSpPr>
        <p:grpSpPr>
          <a:xfrm>
            <a:off x="8075085" y="-3038122"/>
            <a:ext cx="8202600" cy="8202600"/>
            <a:chOff x="8075085" y="-3038122"/>
            <a:chExt cx="8202600" cy="8202600"/>
          </a:xfrm>
        </p:grpSpPr>
        <p:sp>
          <p:nvSpPr>
            <p:cNvPr id="407" name="Google Shape;407;p10"/>
            <p:cNvSpPr/>
            <p:nvPr/>
          </p:nvSpPr>
          <p:spPr>
            <a:xfrm>
              <a:off x="8075085" y="-3038122"/>
              <a:ext cx="8202600" cy="8202600"/>
            </a:xfrm>
            <a:prstGeom prst="ellipse">
              <a:avLst/>
            </a:prstGeom>
            <a:solidFill>
              <a:srgbClr val="3C5CE8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08" name="Google Shape;408;p10"/>
            <p:cNvSpPr/>
            <p:nvPr/>
          </p:nvSpPr>
          <p:spPr>
            <a:xfrm rot="301618">
              <a:off x="9374132" y="-1567499"/>
              <a:ext cx="5134763" cy="5134763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09" name="Google Shape;409;p10"/>
            <p:cNvSpPr/>
            <p:nvPr/>
          </p:nvSpPr>
          <p:spPr>
            <a:xfrm>
              <a:off x="8835534" y="-2277673"/>
              <a:ext cx="6681600" cy="6681600"/>
            </a:xfrm>
            <a:prstGeom prst="ellipse">
              <a:avLst/>
            </a:pr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0" name="Google Shape;410;p10"/>
            <p:cNvSpPr/>
            <p:nvPr/>
          </p:nvSpPr>
          <p:spPr>
            <a:xfrm flipH="1">
              <a:off x="109784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1" name="Google Shape;411;p10"/>
            <p:cNvSpPr/>
            <p:nvPr/>
          </p:nvSpPr>
          <p:spPr>
            <a:xfrm flipH="1">
              <a:off x="108260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2" name="Google Shape;412;p10"/>
            <p:cNvSpPr/>
            <p:nvPr/>
          </p:nvSpPr>
          <p:spPr>
            <a:xfrm flipH="1">
              <a:off x="106736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3" name="Google Shape;413;p10"/>
            <p:cNvSpPr/>
            <p:nvPr/>
          </p:nvSpPr>
          <p:spPr>
            <a:xfrm flipH="1">
              <a:off x="105212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4" name="Google Shape;414;p10"/>
            <p:cNvSpPr/>
            <p:nvPr/>
          </p:nvSpPr>
          <p:spPr>
            <a:xfrm flipH="1">
              <a:off x="103688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5" name="Google Shape;415;p10"/>
            <p:cNvSpPr/>
            <p:nvPr/>
          </p:nvSpPr>
          <p:spPr>
            <a:xfrm flipH="1">
              <a:off x="10216440" y="309185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6" name="Google Shape;416;p10"/>
            <p:cNvSpPr/>
            <p:nvPr/>
          </p:nvSpPr>
          <p:spPr>
            <a:xfrm flipH="1">
              <a:off x="109784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7" name="Google Shape;417;p10"/>
            <p:cNvSpPr/>
            <p:nvPr/>
          </p:nvSpPr>
          <p:spPr>
            <a:xfrm flipH="1">
              <a:off x="108260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8" name="Google Shape;418;p10"/>
            <p:cNvSpPr/>
            <p:nvPr/>
          </p:nvSpPr>
          <p:spPr>
            <a:xfrm flipH="1">
              <a:off x="106736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19" name="Google Shape;419;p10"/>
            <p:cNvSpPr/>
            <p:nvPr/>
          </p:nvSpPr>
          <p:spPr>
            <a:xfrm flipH="1">
              <a:off x="105212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0" name="Google Shape;420;p10"/>
            <p:cNvSpPr/>
            <p:nvPr/>
          </p:nvSpPr>
          <p:spPr>
            <a:xfrm flipH="1">
              <a:off x="103688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1" name="Google Shape;421;p10"/>
            <p:cNvSpPr/>
            <p:nvPr/>
          </p:nvSpPr>
          <p:spPr>
            <a:xfrm flipH="1">
              <a:off x="10216440" y="484164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2" name="Google Shape;422;p10"/>
            <p:cNvSpPr/>
            <p:nvPr/>
          </p:nvSpPr>
          <p:spPr>
            <a:xfrm flipH="1">
              <a:off x="109784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3" name="Google Shape;423;p10"/>
            <p:cNvSpPr/>
            <p:nvPr/>
          </p:nvSpPr>
          <p:spPr>
            <a:xfrm flipH="1">
              <a:off x="108260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4" name="Google Shape;424;p10"/>
            <p:cNvSpPr/>
            <p:nvPr/>
          </p:nvSpPr>
          <p:spPr>
            <a:xfrm flipH="1">
              <a:off x="106736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5" name="Google Shape;425;p10"/>
            <p:cNvSpPr/>
            <p:nvPr/>
          </p:nvSpPr>
          <p:spPr>
            <a:xfrm flipH="1">
              <a:off x="105212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6" name="Google Shape;426;p10"/>
            <p:cNvSpPr/>
            <p:nvPr/>
          </p:nvSpPr>
          <p:spPr>
            <a:xfrm flipH="1">
              <a:off x="103688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7" name="Google Shape;427;p10"/>
            <p:cNvSpPr/>
            <p:nvPr/>
          </p:nvSpPr>
          <p:spPr>
            <a:xfrm flipH="1">
              <a:off x="10216440" y="65914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8" name="Google Shape;428;p10"/>
            <p:cNvSpPr/>
            <p:nvPr/>
          </p:nvSpPr>
          <p:spPr>
            <a:xfrm flipH="1">
              <a:off x="109784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29" name="Google Shape;429;p10"/>
            <p:cNvSpPr/>
            <p:nvPr/>
          </p:nvSpPr>
          <p:spPr>
            <a:xfrm flipH="1">
              <a:off x="108260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30" name="Google Shape;430;p10"/>
            <p:cNvSpPr/>
            <p:nvPr/>
          </p:nvSpPr>
          <p:spPr>
            <a:xfrm flipH="1">
              <a:off x="106736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31" name="Google Shape;431;p10"/>
            <p:cNvSpPr/>
            <p:nvPr/>
          </p:nvSpPr>
          <p:spPr>
            <a:xfrm flipH="1">
              <a:off x="105212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32" name="Google Shape;432;p10"/>
            <p:cNvSpPr/>
            <p:nvPr/>
          </p:nvSpPr>
          <p:spPr>
            <a:xfrm flipH="1">
              <a:off x="103688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33" name="Google Shape;433;p10"/>
            <p:cNvSpPr/>
            <p:nvPr/>
          </p:nvSpPr>
          <p:spPr>
            <a:xfrm flipH="1">
              <a:off x="10216440" y="8341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pic>
        <p:nvPicPr>
          <p:cNvPr descr="图片包含 游戏机, 乐高, 玩具&#10;&#10;描述已自动生成" id="434" name="Google Shape;434;p10"/>
          <p:cNvPicPr preferRelativeResize="0"/>
          <p:nvPr/>
        </p:nvPicPr>
        <p:blipFill rotWithShape="1">
          <a:blip r:embed="rId3">
            <a:alphaModFix/>
          </a:blip>
          <a:srcRect b="6226" l="35458" r="4040" t="22440"/>
          <a:stretch/>
        </p:blipFill>
        <p:spPr>
          <a:xfrm>
            <a:off x="6399126" y="633581"/>
            <a:ext cx="5182875" cy="4321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822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9" name="Google Shape;439;p11"/>
          <p:cNvGrpSpPr/>
          <p:nvPr/>
        </p:nvGrpSpPr>
        <p:grpSpPr>
          <a:xfrm>
            <a:off x="-781050" y="-665637"/>
            <a:ext cx="8187976" cy="1615362"/>
            <a:chOff x="-781050" y="-665637"/>
            <a:chExt cx="8187976" cy="1615362"/>
          </a:xfrm>
        </p:grpSpPr>
        <p:sp>
          <p:nvSpPr>
            <p:cNvPr id="440" name="Google Shape;440;p11"/>
            <p:cNvSpPr/>
            <p:nvPr/>
          </p:nvSpPr>
          <p:spPr>
            <a:xfrm flipH="1" rot="10800000">
              <a:off x="-781050" y="-665637"/>
              <a:ext cx="1539240" cy="153924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  <a:effectLst>
              <a:outerShdw blurRad="127000" rotWithShape="0" algn="ctr">
                <a:srgbClr val="222A3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41" name="Google Shape;441;p11"/>
            <p:cNvSpPr txBox="1"/>
            <p:nvPr/>
          </p:nvSpPr>
          <p:spPr>
            <a:xfrm flipH="1">
              <a:off x="803326" y="365025"/>
              <a:ext cx="66036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Docker starts all the Services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2" name="Google Shape;44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8775" y="1017750"/>
            <a:ext cx="13151223" cy="652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9625" y="1194275"/>
            <a:ext cx="8671500" cy="46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12"/>
          <p:cNvGrpSpPr/>
          <p:nvPr/>
        </p:nvGrpSpPr>
        <p:grpSpPr>
          <a:xfrm>
            <a:off x="-781050" y="-665637"/>
            <a:ext cx="7173545" cy="1615365"/>
            <a:chOff x="-781050" y="-665637"/>
            <a:chExt cx="7173545" cy="1615365"/>
          </a:xfrm>
        </p:grpSpPr>
        <p:sp>
          <p:nvSpPr>
            <p:cNvPr id="449" name="Google Shape;449;p12"/>
            <p:cNvSpPr/>
            <p:nvPr/>
          </p:nvSpPr>
          <p:spPr>
            <a:xfrm flipH="1" rot="10800000">
              <a:off x="-781050" y="-665637"/>
              <a:ext cx="1539240" cy="153924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  <a:effectLst>
              <a:outerShdw blurRad="127000" rotWithShape="0" algn="ctr">
                <a:srgbClr val="222A3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50" name="Google Shape;450;p12"/>
            <p:cNvSpPr txBox="1"/>
            <p:nvPr/>
          </p:nvSpPr>
          <p:spPr>
            <a:xfrm flipH="1">
              <a:off x="803195" y="365028"/>
              <a:ext cx="55893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HomePage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51" name="Google Shape;4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8775" y="1017750"/>
            <a:ext cx="13151223" cy="652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0050" y="1283900"/>
            <a:ext cx="8571899" cy="465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13"/>
          <p:cNvGrpSpPr/>
          <p:nvPr/>
        </p:nvGrpSpPr>
        <p:grpSpPr>
          <a:xfrm>
            <a:off x="-781050" y="-665637"/>
            <a:ext cx="7173545" cy="1615365"/>
            <a:chOff x="-781050" y="-665637"/>
            <a:chExt cx="7173545" cy="1615365"/>
          </a:xfrm>
        </p:grpSpPr>
        <p:sp>
          <p:nvSpPr>
            <p:cNvPr id="458" name="Google Shape;458;p13"/>
            <p:cNvSpPr/>
            <p:nvPr/>
          </p:nvSpPr>
          <p:spPr>
            <a:xfrm flipH="1" rot="10800000">
              <a:off x="-781050" y="-665637"/>
              <a:ext cx="1539240" cy="153924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  <a:effectLst>
              <a:outerShdw blurRad="127000" rotWithShape="0" algn="ctr">
                <a:srgbClr val="222A3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59" name="Google Shape;459;p13"/>
            <p:cNvSpPr txBox="1"/>
            <p:nvPr/>
          </p:nvSpPr>
          <p:spPr>
            <a:xfrm flipH="1">
              <a:off x="803195" y="365028"/>
              <a:ext cx="55893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Registration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0" name="Google Shape;46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8775" y="1017750"/>
            <a:ext cx="13151223" cy="652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92675" y="1250700"/>
            <a:ext cx="8636777" cy="472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p14"/>
          <p:cNvGrpSpPr/>
          <p:nvPr/>
        </p:nvGrpSpPr>
        <p:grpSpPr>
          <a:xfrm>
            <a:off x="-781050" y="-665637"/>
            <a:ext cx="7173545" cy="1615365"/>
            <a:chOff x="-781050" y="-665637"/>
            <a:chExt cx="7173545" cy="1615365"/>
          </a:xfrm>
        </p:grpSpPr>
        <p:sp>
          <p:nvSpPr>
            <p:cNvPr id="467" name="Google Shape;467;p14"/>
            <p:cNvSpPr/>
            <p:nvPr/>
          </p:nvSpPr>
          <p:spPr>
            <a:xfrm flipH="1" rot="10800000">
              <a:off x="-781050" y="-665637"/>
              <a:ext cx="1539240" cy="153924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  <a:effectLst>
              <a:outerShdw blurRad="127000" rotWithShape="0" algn="ctr">
                <a:srgbClr val="222A3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68" name="Google Shape;468;p14"/>
            <p:cNvSpPr txBox="1"/>
            <p:nvPr/>
          </p:nvSpPr>
          <p:spPr>
            <a:xfrm flipH="1">
              <a:off x="803195" y="365028"/>
              <a:ext cx="55893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Registration Successful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69" name="Google Shape;4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8775" y="1017750"/>
            <a:ext cx="13151223" cy="652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8588" y="1417997"/>
            <a:ext cx="8554827" cy="446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oogle Shape;475;p15"/>
          <p:cNvGrpSpPr/>
          <p:nvPr/>
        </p:nvGrpSpPr>
        <p:grpSpPr>
          <a:xfrm>
            <a:off x="-781050" y="-665637"/>
            <a:ext cx="7173545" cy="1615365"/>
            <a:chOff x="-781050" y="-665637"/>
            <a:chExt cx="7173545" cy="1615365"/>
          </a:xfrm>
        </p:grpSpPr>
        <p:sp>
          <p:nvSpPr>
            <p:cNvPr id="476" name="Google Shape;476;p15"/>
            <p:cNvSpPr/>
            <p:nvPr/>
          </p:nvSpPr>
          <p:spPr>
            <a:xfrm flipH="1" rot="10800000">
              <a:off x="-781050" y="-665637"/>
              <a:ext cx="1539240" cy="153924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  <a:effectLst>
              <a:outerShdw blurRad="127000" rotWithShape="0" algn="ctr">
                <a:srgbClr val="222A3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77" name="Google Shape;477;p15"/>
            <p:cNvSpPr txBox="1"/>
            <p:nvPr/>
          </p:nvSpPr>
          <p:spPr>
            <a:xfrm flipH="1">
              <a:off x="803195" y="365028"/>
              <a:ext cx="55893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Login Successful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78" name="Google Shape;4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8775" y="1017750"/>
            <a:ext cx="13151223" cy="652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4300" y="1302403"/>
            <a:ext cx="9005073" cy="4742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16"/>
          <p:cNvGrpSpPr/>
          <p:nvPr/>
        </p:nvGrpSpPr>
        <p:grpSpPr>
          <a:xfrm>
            <a:off x="-781050" y="-665637"/>
            <a:ext cx="7173545" cy="1615365"/>
            <a:chOff x="-781050" y="-665637"/>
            <a:chExt cx="7173545" cy="1615365"/>
          </a:xfrm>
        </p:grpSpPr>
        <p:sp>
          <p:nvSpPr>
            <p:cNvPr id="485" name="Google Shape;485;p16"/>
            <p:cNvSpPr/>
            <p:nvPr/>
          </p:nvSpPr>
          <p:spPr>
            <a:xfrm flipH="1" rot="10800000">
              <a:off x="-781050" y="-665637"/>
              <a:ext cx="1539240" cy="153924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  <a:effectLst>
              <a:outerShdw blurRad="127000" rotWithShape="0" algn="ctr">
                <a:srgbClr val="222A3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86" name="Google Shape;486;p16"/>
            <p:cNvSpPr txBox="1"/>
            <p:nvPr/>
          </p:nvSpPr>
          <p:spPr>
            <a:xfrm flipH="1">
              <a:off x="803195" y="365028"/>
              <a:ext cx="55893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Dashboard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87" name="Google Shape;48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8775" y="1017750"/>
            <a:ext cx="13151223" cy="6524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7937" y="1476325"/>
            <a:ext cx="8716126" cy="438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>
            <a:alpha val="20000"/>
          </a:srgbClr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8775" y="1017750"/>
            <a:ext cx="13151223" cy="65244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4" name="Google Shape;494;p17"/>
          <p:cNvGrpSpPr/>
          <p:nvPr/>
        </p:nvGrpSpPr>
        <p:grpSpPr>
          <a:xfrm>
            <a:off x="-781050" y="-665637"/>
            <a:ext cx="9042602" cy="1615362"/>
            <a:chOff x="-781050" y="-665637"/>
            <a:chExt cx="9042602" cy="1615362"/>
          </a:xfrm>
        </p:grpSpPr>
        <p:sp>
          <p:nvSpPr>
            <p:cNvPr id="495" name="Google Shape;495;p17"/>
            <p:cNvSpPr/>
            <p:nvPr/>
          </p:nvSpPr>
          <p:spPr>
            <a:xfrm flipH="1" rot="10800000">
              <a:off x="-781050" y="-665637"/>
              <a:ext cx="1539240" cy="1539240"/>
            </a:xfrm>
            <a:custGeom>
              <a:rect b="b" l="l" r="r" t="t"/>
              <a:pathLst>
                <a:path extrusionOk="0" h="9472246" w="9472246">
                  <a:moveTo>
                    <a:pt x="4736123" y="1711569"/>
                  </a:moveTo>
                  <a:cubicBezTo>
                    <a:pt x="3065708" y="1711569"/>
                    <a:pt x="1711569" y="3065708"/>
                    <a:pt x="1711569" y="4736123"/>
                  </a:cubicBezTo>
                  <a:cubicBezTo>
                    <a:pt x="1711569" y="6406538"/>
                    <a:pt x="3065708" y="7760677"/>
                    <a:pt x="4736123" y="7760677"/>
                  </a:cubicBezTo>
                  <a:cubicBezTo>
                    <a:pt x="6406538" y="7760677"/>
                    <a:pt x="7760677" y="6406538"/>
                    <a:pt x="7760677" y="4736123"/>
                  </a:cubicBezTo>
                  <a:cubicBezTo>
                    <a:pt x="7760677" y="3065708"/>
                    <a:pt x="6406538" y="1711569"/>
                    <a:pt x="4736123" y="1711569"/>
                  </a:cubicBezTo>
                  <a:close/>
                  <a:moveTo>
                    <a:pt x="4736123" y="0"/>
                  </a:moveTo>
                  <a:cubicBezTo>
                    <a:pt x="7351812" y="0"/>
                    <a:pt x="9472246" y="2120434"/>
                    <a:pt x="9472246" y="4736123"/>
                  </a:cubicBezTo>
                  <a:cubicBezTo>
                    <a:pt x="9472246" y="7351812"/>
                    <a:pt x="7351812" y="9472246"/>
                    <a:pt x="4736123" y="9472246"/>
                  </a:cubicBezTo>
                  <a:cubicBezTo>
                    <a:pt x="2120434" y="9472246"/>
                    <a:pt x="0" y="7351812"/>
                    <a:pt x="0" y="4736123"/>
                  </a:cubicBezTo>
                  <a:cubicBezTo>
                    <a:pt x="0" y="2120434"/>
                    <a:pt x="2120434" y="0"/>
                    <a:pt x="4736123" y="0"/>
                  </a:cubicBezTo>
                  <a:close/>
                </a:path>
              </a:pathLst>
            </a:custGeom>
            <a:solidFill>
              <a:srgbClr val="3C5CE8"/>
            </a:solidFill>
            <a:ln>
              <a:noFill/>
            </a:ln>
            <a:effectLst>
              <a:outerShdw blurRad="127000" rotWithShape="0" algn="ctr">
                <a:srgbClr val="222A35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496" name="Google Shape;496;p17"/>
            <p:cNvSpPr txBox="1"/>
            <p:nvPr/>
          </p:nvSpPr>
          <p:spPr>
            <a:xfrm flipH="1">
              <a:off x="803252" y="365025"/>
              <a:ext cx="74583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3C5CE8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Successful Hits to the backend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97" name="Google Shape;49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0450" y="1422175"/>
            <a:ext cx="8671523" cy="448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CFC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8"/>
          <p:cNvSpPr/>
          <p:nvPr/>
        </p:nvSpPr>
        <p:spPr>
          <a:xfrm>
            <a:off x="-2027284" y="4919134"/>
            <a:ext cx="3200100" cy="3200100"/>
          </a:xfrm>
          <a:prstGeom prst="ellipse">
            <a:avLst/>
          </a:prstGeom>
          <a:noFill/>
          <a:ln cap="flat" cmpd="sng" w="889000">
            <a:solidFill>
              <a:srgbClr val="4060E8">
                <a:alpha val="14509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  <p:grpSp>
        <p:nvGrpSpPr>
          <p:cNvPr id="503" name="Google Shape;503;p18"/>
          <p:cNvGrpSpPr/>
          <p:nvPr/>
        </p:nvGrpSpPr>
        <p:grpSpPr>
          <a:xfrm>
            <a:off x="1024598" y="3189150"/>
            <a:ext cx="3463899" cy="479700"/>
            <a:chOff x="1419996" y="3799843"/>
            <a:chExt cx="2012841" cy="479700"/>
          </a:xfrm>
        </p:grpSpPr>
        <p:sp>
          <p:nvSpPr>
            <p:cNvPr id="504" name="Google Shape;504;p18"/>
            <p:cNvSpPr/>
            <p:nvPr/>
          </p:nvSpPr>
          <p:spPr>
            <a:xfrm flipH="1" rot="-5400000">
              <a:off x="2186637" y="3033343"/>
              <a:ext cx="479700" cy="2012700"/>
            </a:xfrm>
            <a:prstGeom prst="roundRect">
              <a:avLst>
                <a:gd fmla="val 50000" name="adj"/>
              </a:avLst>
            </a:prstGeom>
            <a:solidFill>
              <a:srgbClr val="3C5CE8"/>
            </a:solidFill>
            <a:ln cap="flat" cmpd="sng" w="19050">
              <a:solidFill>
                <a:srgbClr val="3C5CE8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127000" rotWithShape="0" algn="ctr">
                <a:srgbClr val="3C5CE8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5" name="Google Shape;505;p18"/>
            <p:cNvSpPr txBox="1"/>
            <p:nvPr/>
          </p:nvSpPr>
          <p:spPr>
            <a:xfrm flipH="1">
              <a:off x="1419996" y="3870364"/>
              <a:ext cx="2012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Microsoft Yahei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sp>
        <p:nvSpPr>
          <p:cNvPr id="506" name="Google Shape;506;p18"/>
          <p:cNvSpPr txBox="1"/>
          <p:nvPr/>
        </p:nvSpPr>
        <p:spPr>
          <a:xfrm flipH="1">
            <a:off x="929145" y="1941408"/>
            <a:ext cx="6363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5CE8"/>
              </a:buClr>
              <a:buSzPts val="4800"/>
              <a:buFont typeface="Microsoft Yahei"/>
              <a:buNone/>
            </a:pPr>
            <a:r>
              <a:rPr b="1" i="0" lang="en-US" sz="4800" u="none" cap="none" strike="noStrike">
                <a:solidFill>
                  <a:srgbClr val="3C5CE8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7" name="Google Shape;507;p18"/>
          <p:cNvGrpSpPr/>
          <p:nvPr/>
        </p:nvGrpSpPr>
        <p:grpSpPr>
          <a:xfrm>
            <a:off x="7473877" y="-1994691"/>
            <a:ext cx="10847400" cy="10847400"/>
            <a:chOff x="8235877" y="-1994691"/>
            <a:chExt cx="10847400" cy="10847400"/>
          </a:xfrm>
        </p:grpSpPr>
        <p:sp>
          <p:nvSpPr>
            <p:cNvPr id="508" name="Google Shape;508;p18"/>
            <p:cNvSpPr/>
            <p:nvPr/>
          </p:nvSpPr>
          <p:spPr>
            <a:xfrm>
              <a:off x="8235877" y="-1994691"/>
              <a:ext cx="10847400" cy="10847400"/>
            </a:xfrm>
            <a:prstGeom prst="ellipse">
              <a:avLst/>
            </a:prstGeom>
            <a:solidFill>
              <a:srgbClr val="4060E8">
                <a:alpha val="1450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09" name="Google Shape;509;p18"/>
            <p:cNvSpPr/>
            <p:nvPr/>
          </p:nvSpPr>
          <p:spPr>
            <a:xfrm>
              <a:off x="8950408" y="-1280160"/>
              <a:ext cx="9418200" cy="9418200"/>
            </a:xfrm>
            <a:prstGeom prst="ellipse">
              <a:avLst/>
            </a:prstGeom>
            <a:solidFill>
              <a:srgbClr val="4060E8">
                <a:alpha val="1450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0" name="Google Shape;510;p18"/>
            <p:cNvSpPr/>
            <p:nvPr/>
          </p:nvSpPr>
          <p:spPr>
            <a:xfrm>
              <a:off x="9409953" y="-820615"/>
              <a:ext cx="8499300" cy="8499300"/>
            </a:xfrm>
            <a:prstGeom prst="ellipse">
              <a:avLst/>
            </a:prstGeom>
            <a:solidFill>
              <a:srgbClr val="3C5CE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1" name="Google Shape;511;p18"/>
            <p:cNvSpPr/>
            <p:nvPr/>
          </p:nvSpPr>
          <p:spPr>
            <a:xfrm flipH="1">
              <a:off x="115567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2" name="Google Shape;512;p18"/>
            <p:cNvSpPr/>
            <p:nvPr/>
          </p:nvSpPr>
          <p:spPr>
            <a:xfrm flipH="1">
              <a:off x="114043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3" name="Google Shape;513;p18"/>
            <p:cNvSpPr/>
            <p:nvPr/>
          </p:nvSpPr>
          <p:spPr>
            <a:xfrm flipH="1">
              <a:off x="112519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4" name="Google Shape;514;p18"/>
            <p:cNvSpPr/>
            <p:nvPr/>
          </p:nvSpPr>
          <p:spPr>
            <a:xfrm flipH="1">
              <a:off x="110995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5" name="Google Shape;515;p18"/>
            <p:cNvSpPr/>
            <p:nvPr/>
          </p:nvSpPr>
          <p:spPr>
            <a:xfrm flipH="1">
              <a:off x="109471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6" name="Google Shape;516;p18"/>
            <p:cNvSpPr/>
            <p:nvPr/>
          </p:nvSpPr>
          <p:spPr>
            <a:xfrm flipH="1">
              <a:off x="10794755" y="735323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7" name="Google Shape;517;p18"/>
            <p:cNvSpPr/>
            <p:nvPr/>
          </p:nvSpPr>
          <p:spPr>
            <a:xfrm flipH="1">
              <a:off x="115567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8" name="Google Shape;518;p18"/>
            <p:cNvSpPr/>
            <p:nvPr/>
          </p:nvSpPr>
          <p:spPr>
            <a:xfrm flipH="1">
              <a:off x="114043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19" name="Google Shape;519;p18"/>
            <p:cNvSpPr/>
            <p:nvPr/>
          </p:nvSpPr>
          <p:spPr>
            <a:xfrm flipH="1">
              <a:off x="112519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0" name="Google Shape;520;p18"/>
            <p:cNvSpPr/>
            <p:nvPr/>
          </p:nvSpPr>
          <p:spPr>
            <a:xfrm flipH="1">
              <a:off x="110995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1" name="Google Shape;521;p18"/>
            <p:cNvSpPr/>
            <p:nvPr/>
          </p:nvSpPr>
          <p:spPr>
            <a:xfrm flipH="1">
              <a:off x="109471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2" name="Google Shape;522;p18"/>
            <p:cNvSpPr/>
            <p:nvPr/>
          </p:nvSpPr>
          <p:spPr>
            <a:xfrm flipH="1">
              <a:off x="10794755" y="910302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3" name="Google Shape;523;p18"/>
            <p:cNvSpPr/>
            <p:nvPr/>
          </p:nvSpPr>
          <p:spPr>
            <a:xfrm flipH="1">
              <a:off x="115567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4" name="Google Shape;524;p18"/>
            <p:cNvSpPr/>
            <p:nvPr/>
          </p:nvSpPr>
          <p:spPr>
            <a:xfrm flipH="1">
              <a:off x="114043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5" name="Google Shape;525;p18"/>
            <p:cNvSpPr/>
            <p:nvPr/>
          </p:nvSpPr>
          <p:spPr>
            <a:xfrm flipH="1">
              <a:off x="112519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6" name="Google Shape;526;p18"/>
            <p:cNvSpPr/>
            <p:nvPr/>
          </p:nvSpPr>
          <p:spPr>
            <a:xfrm flipH="1">
              <a:off x="110995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7" name="Google Shape;527;p18"/>
            <p:cNvSpPr/>
            <p:nvPr/>
          </p:nvSpPr>
          <p:spPr>
            <a:xfrm flipH="1">
              <a:off x="109471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8" name="Google Shape;528;p18"/>
            <p:cNvSpPr/>
            <p:nvPr/>
          </p:nvSpPr>
          <p:spPr>
            <a:xfrm flipH="1">
              <a:off x="10794755" y="108528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29" name="Google Shape;529;p18"/>
            <p:cNvSpPr/>
            <p:nvPr/>
          </p:nvSpPr>
          <p:spPr>
            <a:xfrm flipH="1">
              <a:off x="115567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30" name="Google Shape;530;p18"/>
            <p:cNvSpPr/>
            <p:nvPr/>
          </p:nvSpPr>
          <p:spPr>
            <a:xfrm flipH="1">
              <a:off x="114043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31" name="Google Shape;531;p18"/>
            <p:cNvSpPr/>
            <p:nvPr/>
          </p:nvSpPr>
          <p:spPr>
            <a:xfrm flipH="1">
              <a:off x="112519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32" name="Google Shape;532;p18"/>
            <p:cNvSpPr/>
            <p:nvPr/>
          </p:nvSpPr>
          <p:spPr>
            <a:xfrm flipH="1">
              <a:off x="110995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33" name="Google Shape;533;p18"/>
            <p:cNvSpPr/>
            <p:nvPr/>
          </p:nvSpPr>
          <p:spPr>
            <a:xfrm flipH="1">
              <a:off x="109471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  <p:sp>
          <p:nvSpPr>
            <p:cNvPr id="534" name="Google Shape;534;p18"/>
            <p:cNvSpPr/>
            <p:nvPr/>
          </p:nvSpPr>
          <p:spPr>
            <a:xfrm flipH="1">
              <a:off x="10794755" y="1260261"/>
              <a:ext cx="72000" cy="72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Microsoft Yahe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Microsoft Yahei"/>
                <a:ea typeface="Microsoft Yahei"/>
                <a:cs typeface="Microsoft Yahei"/>
                <a:sym typeface="Microsoft Yahei"/>
              </a:endParaRPr>
            </a:p>
          </p:txBody>
        </p:sp>
      </p:grpSp>
      <p:pic>
        <p:nvPicPr>
          <p:cNvPr descr="图片包含 桌子, 小, 手, 黑暗&#10;&#10;描述已自动生成" id="535" name="Google Shape;535;p18"/>
          <p:cNvPicPr preferRelativeResize="0"/>
          <p:nvPr/>
        </p:nvPicPr>
        <p:blipFill rotWithShape="1">
          <a:blip r:embed="rId3">
            <a:alphaModFix/>
          </a:blip>
          <a:srcRect b="5168" l="39567" r="7244" t="14817"/>
          <a:stretch/>
        </p:blipFill>
        <p:spPr>
          <a:xfrm>
            <a:off x="6645213" y="868625"/>
            <a:ext cx="6147313" cy="6539049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18"/>
          <p:cNvSpPr txBox="1"/>
          <p:nvPr/>
        </p:nvSpPr>
        <p:spPr>
          <a:xfrm>
            <a:off x="1024600" y="4078450"/>
            <a:ext cx="5777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https://github.com/devils-angel/pykafkastream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2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44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644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ww.jpppt.com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